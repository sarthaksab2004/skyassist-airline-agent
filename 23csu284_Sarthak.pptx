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reviewers. Today I am presenting SkyAssist, an enterprise-grade customer resolution agent built to solve one of the messiest operational challenges in aviation: irregular operations and passenger disruptions. Instead of a generic chatbot that hallucinates unapproved vouchers or causes costly policy leaks, SkyAssist integrates empathetic natural language understanding with strict deterministic policy guardrails.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flight is cancelled, passengers are anxious and frustrated. Human call centres get overwhelmed, leading to multi-hour wait times. Conversely, naive LLMs are dangerous — they can promise unauthorized business class seats or unapproved cash. SkyAssist is designed with a zero-hallucination policy boundary that protects airline revenue while delivering instant resolution.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architecture. Notice the dual-layer design: Groq GPT-OSS 120B handles high-EQ conversational empathy and intent classification, but the transactional layer is governed by a hard programmatic Guardrail layer. The agent cannot execute any action that violates the airline's rules, regardless of user prompt injection or model hallucination.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adhered strictly to the constraint: do not invent rules, policies, or customer information. Every flight number, departure time, loyalty tier, and rupee figure matches the data pack verbatim. The system operates on the fixed date of 23 September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Scenario 1, Priya demands an unapproved business class upgrade. The agent immediately processes what she is legally entitled to — a 100% refund on the cancelled sector — while politely maintaining policy boundaries on the cabin upgrade and routing the exception to a supervisor.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Arvind is stressed about his business meeting and asks for a hotel. A naive agent might give it to calm him down, costing the airline thousands of rupees. SkyAssist explains that hotel accommodation starts at 5 hours, but immediately provides him with the meal voucher and lounge access so he can work comfortably.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3 represents complex multi-intent negotiation. Meher asks for a full night hotel and a ₹2,000 fare difference waiver. SkyAssist grants the daytime hotel room for the 6 hours of delay, but strictly respects the ₹1,500 agent waiver limit, triggering supervisor escalation for the remaining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Prohibited vs Allowed matrix is implemented not just as a prompt instruction, but as a hard code barrier. If a passenger mentions lawyer or formal complaint, the agent shifts tone into de-escalation, records the audit trail, and flags the session for human intervention.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utilized Groq API with GPT-OSS 120B because disruption management requires near-instantaneous latency and high reasoning accuracy. We augmented this with automated test coverage that programmatically validates all 3 customer journeys before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SkyAssist demonstrates how messy, high-stress business operations can be solved with thoughtful agentic architecture. By combining LLM empathy with deterministic policy guardrails, we protect airline margins while delivering instant, transparent resolution to passengers. Thank you, and I look forward to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778240" y="-1463040"/>
            <a:ext cx="5486400" cy="5486400"/>
          </a:xfrm>
          <a:prstGeom prst="ellipse">
            <a:avLst/>
          </a:prstGeom>
          <a:solidFill>
            <a:srgbClr val="26306E"/>
          </a:solidFill>
          <a:ln/>
        </p:spPr>
      </p:sp>
      <p:sp>
        <p:nvSpPr>
          <p:cNvPr id="3" name="Shape 1"/>
          <p:cNvSpPr/>
          <p:nvPr/>
        </p:nvSpPr>
        <p:spPr>
          <a:xfrm>
            <a:off x="9692640" y="-548640"/>
            <a:ext cx="3657600" cy="3657600"/>
          </a:xfrm>
          <a:prstGeom prst="ellipse">
            <a:avLst/>
          </a:prstGeom>
          <a:solidFill>
            <a:srgbClr val="2C3878"/>
          </a:solidFill>
          <a:ln/>
        </p:spPr>
      </p:sp>
      <p:sp>
        <p:nvSpPr>
          <p:cNvPr id="4" name="Shape 2"/>
          <p:cNvSpPr/>
          <p:nvPr/>
        </p:nvSpPr>
        <p:spPr>
          <a:xfrm>
            <a:off x="10424160" y="182880"/>
            <a:ext cx="2194560" cy="2194560"/>
          </a:xfrm>
          <a:prstGeom prst="ellipse">
            <a:avLst/>
          </a:prstGeom>
          <a:solidFill>
            <a:srgbClr val="CADCFC"/>
          </a:solidFill>
          <a:ln/>
        </p:spPr>
      </p:sp>
      <p:sp>
        <p:nvSpPr>
          <p:cNvPr id="5" name="Text 3"/>
          <p:cNvSpPr txBox="1"/>
          <p:nvPr/>
        </p:nvSpPr>
        <p:spPr>
          <a:xfrm>
            <a:off x="640080" y="914400"/>
            <a:ext cx="8229600" cy="365760"/>
          </a:xfrm>
          <a:prstGeom prst="rect">
            <a:avLst/>
          </a:prstGeom>
          <a:noFill/>
          <a:ln/>
        </p:spPr>
        <p:txBody>
          <a:bodyPr wrap="square" lIns="0" tIns="0" rIns="0" bIns="0" rtlCol="0" anchor="ctr"/>
          <a:lstStyle/>
          <a:p>
            <a:pPr indent="0" marL="0">
              <a:buNone/>
            </a:pPr>
            <a:r>
              <a:rPr lang="en-US" sz="1300" b="1" spc="200" kern="0" dirty="0">
                <a:solidFill>
                  <a:srgbClr val="F2A93B"/>
                </a:solidFill>
                <a:latin typeface="Calibri" pitchFamily="34" charset="0"/>
                <a:ea typeface="Calibri" pitchFamily="34" charset="-122"/>
                <a:cs typeface="Calibri" pitchFamily="34" charset="-120"/>
              </a:rPr>
              <a:t>AIONOS AGENTIC AI FACTORY · ASSIGNMENT 3</a:t>
            </a:r>
            <a:endParaRPr lang="en-US" sz="1300" dirty="0"/>
          </a:p>
        </p:txBody>
      </p:sp>
      <p:sp>
        <p:nvSpPr>
          <p:cNvPr id="6" name="Text 4"/>
          <p:cNvSpPr txBox="1"/>
          <p:nvPr/>
        </p:nvSpPr>
        <p:spPr>
          <a:xfrm>
            <a:off x="594360" y="1371600"/>
            <a:ext cx="9601200" cy="118872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SkyAssist</a:t>
            </a:r>
            <a:endParaRPr lang="en-US" sz="6000" dirty="0"/>
          </a:p>
        </p:txBody>
      </p:sp>
      <p:sp>
        <p:nvSpPr>
          <p:cNvPr id="7" name="Text 5"/>
          <p:cNvSpPr txBox="1"/>
          <p:nvPr/>
        </p:nvSpPr>
        <p:spPr>
          <a:xfrm>
            <a:off x="640080" y="2514600"/>
            <a:ext cx="8503920" cy="548640"/>
          </a:xfrm>
          <a:prstGeom prst="rect">
            <a:avLst/>
          </a:prstGeom>
          <a:noFill/>
          <a:ln/>
        </p:spPr>
        <p:txBody>
          <a:bodyPr wrap="square" lIns="0" tIns="0" rIns="0" bIns="0" rtlCol="0" anchor="ctr"/>
          <a:lstStyle/>
          <a:p>
            <a:pPr indent="0" marL="0">
              <a:buNone/>
            </a:pPr>
            <a:r>
              <a:rPr lang="en-US" sz="1900" dirty="0">
                <a:solidFill>
                  <a:srgbClr val="CADCFC"/>
                </a:solidFill>
                <a:latin typeface="Calibri" pitchFamily="34" charset="0"/>
                <a:ea typeface="Calibri" pitchFamily="34" charset="-122"/>
                <a:cs typeface="Calibri" pitchFamily="34" charset="-120"/>
              </a:rPr>
              <a:t>Autonomous, Policy-Governed Resolution Agent for Airline Disruptions</a:t>
            </a:r>
            <a:endParaRPr lang="en-US" sz="1900" dirty="0"/>
          </a:p>
        </p:txBody>
      </p:sp>
      <p:sp>
        <p:nvSpPr>
          <p:cNvPr id="8" name="Shape 6"/>
          <p:cNvSpPr/>
          <p:nvPr/>
        </p:nvSpPr>
        <p:spPr>
          <a:xfrm>
            <a:off x="640080" y="3246120"/>
            <a:ext cx="5120640" cy="0"/>
          </a:xfrm>
          <a:prstGeom prst="line">
            <a:avLst/>
          </a:prstGeom>
          <a:noFill/>
          <a:ln w="12700">
            <a:solidFill>
              <a:srgbClr val="3B4682"/>
            </a:solidFill>
            <a:prstDash val="solid"/>
          </a:ln>
        </p:spPr>
      </p:sp>
      <p:sp>
        <p:nvSpPr>
          <p:cNvPr id="9" name="Text 7"/>
          <p:cNvSpPr txBox="1"/>
          <p:nvPr/>
        </p:nvSpPr>
        <p:spPr>
          <a:xfrm>
            <a:off x="640080" y="3520440"/>
            <a:ext cx="2103120" cy="292608"/>
          </a:xfrm>
          <a:prstGeom prst="rect">
            <a:avLst/>
          </a:prstGeom>
          <a:noFill/>
          <a:ln/>
        </p:spPr>
        <p:txBody>
          <a:bodyPr wrap="square" lIns="0" tIns="0" rIns="0" bIns="0" rtlCol="0" anchor="ctr"/>
          <a:lstStyle/>
          <a:p>
            <a:pPr indent="0" marL="0">
              <a:buNone/>
            </a:pPr>
            <a:r>
              <a:rPr lang="en-US" sz="1000" b="1" dirty="0">
                <a:solidFill>
                  <a:srgbClr val="5A6B8C"/>
                </a:solidFill>
                <a:latin typeface="Calibri" pitchFamily="34" charset="0"/>
                <a:ea typeface="Calibri" pitchFamily="34" charset="-122"/>
                <a:cs typeface="Calibri" pitchFamily="34" charset="-120"/>
              </a:rPr>
              <a:t>CANDIDATE</a:t>
            </a:r>
            <a:endParaRPr lang="en-US" sz="1000" dirty="0"/>
          </a:p>
        </p:txBody>
      </p:sp>
      <p:sp>
        <p:nvSpPr>
          <p:cNvPr id="10" name="Text 8"/>
          <p:cNvSpPr txBox="1"/>
          <p:nvPr/>
        </p:nvSpPr>
        <p:spPr>
          <a:xfrm>
            <a:off x="2743200" y="3493008"/>
            <a:ext cx="6583680" cy="32918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Sarthak Sabharwal</a:t>
            </a:r>
            <a:endParaRPr lang="en-US" sz="1300" dirty="0"/>
          </a:p>
        </p:txBody>
      </p:sp>
      <p:sp>
        <p:nvSpPr>
          <p:cNvPr id="11" name="Text 9"/>
          <p:cNvSpPr txBox="1"/>
          <p:nvPr/>
        </p:nvSpPr>
        <p:spPr>
          <a:xfrm>
            <a:off x="640080" y="3941064"/>
            <a:ext cx="2103120" cy="292608"/>
          </a:xfrm>
          <a:prstGeom prst="rect">
            <a:avLst/>
          </a:prstGeom>
          <a:noFill/>
          <a:ln/>
        </p:spPr>
        <p:txBody>
          <a:bodyPr wrap="square" lIns="0" tIns="0" rIns="0" bIns="0" rtlCol="0" anchor="ctr"/>
          <a:lstStyle/>
          <a:p>
            <a:pPr indent="0" marL="0">
              <a:buNone/>
            </a:pPr>
            <a:r>
              <a:rPr lang="en-US" sz="1000" b="1" dirty="0">
                <a:solidFill>
                  <a:srgbClr val="5A6B8C"/>
                </a:solidFill>
                <a:latin typeface="Calibri" pitchFamily="34" charset="0"/>
                <a:ea typeface="Calibri" pitchFamily="34" charset="-122"/>
                <a:cs typeface="Calibri" pitchFamily="34" charset="-120"/>
              </a:rPr>
              <a:t>SCENARIO DATE</a:t>
            </a:r>
            <a:endParaRPr lang="en-US" sz="1000" dirty="0"/>
          </a:p>
        </p:txBody>
      </p:sp>
      <p:sp>
        <p:nvSpPr>
          <p:cNvPr id="12" name="Text 10"/>
          <p:cNvSpPr txBox="1"/>
          <p:nvPr/>
        </p:nvSpPr>
        <p:spPr>
          <a:xfrm>
            <a:off x="2743200" y="3913632"/>
            <a:ext cx="6583680" cy="32918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Wednesday, 23 September 2026</a:t>
            </a:r>
            <a:endParaRPr lang="en-US" sz="1300" dirty="0"/>
          </a:p>
        </p:txBody>
      </p:sp>
      <p:sp>
        <p:nvSpPr>
          <p:cNvPr id="13" name="Text 11"/>
          <p:cNvSpPr txBox="1"/>
          <p:nvPr/>
        </p:nvSpPr>
        <p:spPr>
          <a:xfrm>
            <a:off x="640080" y="4361688"/>
            <a:ext cx="2103120" cy="292608"/>
          </a:xfrm>
          <a:prstGeom prst="rect">
            <a:avLst/>
          </a:prstGeom>
          <a:noFill/>
          <a:ln/>
        </p:spPr>
        <p:txBody>
          <a:bodyPr wrap="square" lIns="0" tIns="0" rIns="0" bIns="0" rtlCol="0" anchor="ctr"/>
          <a:lstStyle/>
          <a:p>
            <a:pPr indent="0" marL="0">
              <a:buNone/>
            </a:pPr>
            <a:r>
              <a:rPr lang="en-US" sz="1000" b="1" dirty="0">
                <a:solidFill>
                  <a:srgbClr val="5A6B8C"/>
                </a:solidFill>
                <a:latin typeface="Calibri" pitchFamily="34" charset="0"/>
                <a:ea typeface="Calibri" pitchFamily="34" charset="-122"/>
                <a:cs typeface="Calibri" pitchFamily="34" charset="-120"/>
              </a:rPr>
              <a:t>TECH STACK</a:t>
            </a:r>
            <a:endParaRPr lang="en-US" sz="1000" dirty="0"/>
          </a:p>
        </p:txBody>
      </p:sp>
      <p:sp>
        <p:nvSpPr>
          <p:cNvPr id="14" name="Text 12"/>
          <p:cNvSpPr txBox="1"/>
          <p:nvPr/>
        </p:nvSpPr>
        <p:spPr>
          <a:xfrm>
            <a:off x="2743200" y="4334256"/>
            <a:ext cx="6583680" cy="32918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Groq API (GPT-OSS 120B) · FastAPI · Policy Guardrails</a:t>
            </a:r>
            <a:endParaRPr lang="en-US" sz="1300" dirty="0"/>
          </a:p>
        </p:txBody>
      </p:sp>
      <p:sp>
        <p:nvSpPr>
          <p:cNvPr id="15" name="Shape 13"/>
          <p:cNvSpPr/>
          <p:nvPr/>
        </p:nvSpPr>
        <p:spPr>
          <a:xfrm>
            <a:off x="640080" y="5394960"/>
            <a:ext cx="2286000" cy="310896"/>
          </a:xfrm>
          <a:prstGeom prst="roundRect">
            <a:avLst>
              <a:gd name="adj" fmla="val 23529"/>
            </a:avLst>
          </a:prstGeom>
          <a:solidFill>
            <a:srgbClr val="E14B4B"/>
          </a:solidFill>
          <a:ln/>
        </p:spPr>
      </p:sp>
      <p:sp>
        <p:nvSpPr>
          <p:cNvPr id="16" name="Text 14"/>
          <p:cNvSpPr txBox="1"/>
          <p:nvPr/>
        </p:nvSpPr>
        <p:spPr>
          <a:xfrm>
            <a:off x="640080" y="5394960"/>
            <a:ext cx="228600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SK-204  CANCELLED</a:t>
            </a:r>
            <a:endParaRPr lang="en-US" sz="1100" dirty="0"/>
          </a:p>
        </p:txBody>
      </p:sp>
      <p:sp>
        <p:nvSpPr>
          <p:cNvPr id="17" name="Shape 15"/>
          <p:cNvSpPr/>
          <p:nvPr/>
        </p:nvSpPr>
        <p:spPr>
          <a:xfrm>
            <a:off x="3063240" y="5394960"/>
            <a:ext cx="2286000" cy="310896"/>
          </a:xfrm>
          <a:prstGeom prst="roundRect">
            <a:avLst>
              <a:gd name="adj" fmla="val 23529"/>
            </a:avLst>
          </a:prstGeom>
          <a:solidFill>
            <a:srgbClr val="F2A93B"/>
          </a:solidFill>
          <a:ln/>
        </p:spPr>
      </p:sp>
      <p:sp>
        <p:nvSpPr>
          <p:cNvPr id="18" name="Text 16"/>
          <p:cNvSpPr txBox="1"/>
          <p:nvPr/>
        </p:nvSpPr>
        <p:spPr>
          <a:xfrm>
            <a:off x="3063240" y="5394960"/>
            <a:ext cx="228600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SK-118  DELAYED 4H</a:t>
            </a:r>
            <a:endParaRPr lang="en-US" sz="1100" dirty="0"/>
          </a:p>
        </p:txBody>
      </p:sp>
      <p:sp>
        <p:nvSpPr>
          <p:cNvPr id="19" name="Shape 17"/>
          <p:cNvSpPr/>
          <p:nvPr/>
        </p:nvSpPr>
        <p:spPr>
          <a:xfrm>
            <a:off x="5486400" y="5394960"/>
            <a:ext cx="2286000" cy="310896"/>
          </a:xfrm>
          <a:prstGeom prst="roundRect">
            <a:avLst>
              <a:gd name="adj" fmla="val 23529"/>
            </a:avLst>
          </a:prstGeom>
          <a:solidFill>
            <a:srgbClr val="F2A93B"/>
          </a:solidFill>
          <a:ln/>
        </p:spPr>
      </p:sp>
      <p:sp>
        <p:nvSpPr>
          <p:cNvPr id="20" name="Text 18"/>
          <p:cNvSpPr txBox="1"/>
          <p:nvPr/>
        </p:nvSpPr>
        <p:spPr>
          <a:xfrm>
            <a:off x="5486400" y="5394960"/>
            <a:ext cx="228600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SK-305  DELAYED 6H</a:t>
            </a:r>
            <a:endParaRPr lang="en-US" sz="1100" dirty="0"/>
          </a:p>
        </p:txBody>
      </p:sp>
      <p:sp>
        <p:nvSpPr>
          <p:cNvPr id="21" name="Text 19"/>
          <p:cNvSpPr txBox="1"/>
          <p:nvPr/>
        </p:nvSpPr>
        <p:spPr>
          <a:xfrm>
            <a:off x="640080" y="5852160"/>
            <a:ext cx="7315200" cy="274320"/>
          </a:xfrm>
          <a:prstGeom prst="rect">
            <a:avLst/>
          </a:prstGeom>
          <a:noFill/>
          <a:ln/>
        </p:spPr>
        <p:txBody>
          <a:bodyPr wrap="square" lIns="0" tIns="0" rIns="0" bIns="0" rtlCol="0" anchor="ctr"/>
          <a:lstStyle/>
          <a:p>
            <a:pPr indent="0" marL="0">
              <a:buNone/>
            </a:pPr>
            <a:r>
              <a:rPr lang="en-US" sz="1000" i="1" dirty="0">
                <a:solidFill>
                  <a:srgbClr val="8894B5"/>
                </a:solidFill>
                <a:latin typeface="Calibri" pitchFamily="34" charset="0"/>
                <a:ea typeface="Calibri" pitchFamily="34" charset="-122"/>
                <a:cs typeface="Calibri" pitchFamily="34" charset="-120"/>
              </a:rPr>
              <a:t>Live disruption status — three real passenger journeys resolved end-to-end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5A6B8C"/>
                </a:solidFill>
                <a:latin typeface="Calibri" pitchFamily="34" charset="0"/>
                <a:ea typeface="Calibri" pitchFamily="34" charset="-122"/>
                <a:cs typeface="Calibri" pitchFamily="34" charset="-120"/>
              </a:rPr>
              <a:t>THE CHALLENGE</a:t>
            </a:r>
            <a:endParaRPr lang="en-US" sz="1200" dirty="0"/>
          </a:p>
        </p:txBody>
      </p:sp>
      <p:sp>
        <p:nvSpPr>
          <p:cNvPr id="3" name="Text 1"/>
          <p:cNvSpPr txBox="1"/>
          <p:nvPr/>
        </p:nvSpPr>
        <p:spPr>
          <a:xfrm>
            <a:off x="548640" y="621792"/>
            <a:ext cx="109728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The Business Problem &amp; Operational Reality</a:t>
            </a:r>
            <a:endParaRPr lang="en-US" sz="3000" dirty="0"/>
          </a:p>
        </p:txBody>
      </p:sp>
      <p:sp>
        <p:nvSpPr>
          <p:cNvPr id="4" name="Shape 2"/>
          <p:cNvSpPr/>
          <p:nvPr/>
        </p:nvSpPr>
        <p:spPr>
          <a:xfrm>
            <a:off x="548640" y="1600200"/>
            <a:ext cx="3566160" cy="2286000"/>
          </a:xfrm>
          <a:prstGeom prst="roundRect">
            <a:avLst>
              <a:gd name="adj" fmla="val 3200"/>
            </a:avLst>
          </a:prstGeom>
          <a:solidFill>
            <a:srgbClr val="FFFFFF"/>
          </a:solidFill>
          <a:ln/>
          <a:effectLst>
            <a:outerShdw sx="100000" sy="100000" kx="0" ky="0" algn="bl" rotWithShape="0" blurRad="101600" dist="38100" dir="5400000">
              <a:srgbClr val="666666">
                <a:alpha val="18000"/>
              </a:srgbClr>
            </a:outerShdw>
          </a:effectLst>
        </p:spPr>
      </p:sp>
      <p:sp>
        <p:nvSpPr>
          <p:cNvPr id="5" name="Shape 3"/>
          <p:cNvSpPr/>
          <p:nvPr/>
        </p:nvSpPr>
        <p:spPr>
          <a:xfrm>
            <a:off x="822960" y="1874520"/>
            <a:ext cx="457200" cy="457200"/>
          </a:xfrm>
          <a:prstGeom prst="roundRect">
            <a:avLst>
              <a:gd name="adj" fmla="val 50000"/>
            </a:avLst>
          </a:prstGeom>
          <a:solidFill>
            <a:srgbClr val="1E2761"/>
          </a:solidFill>
          <a:ln/>
        </p:spPr>
      </p:sp>
      <p:sp>
        <p:nvSpPr>
          <p:cNvPr id="6" name="Text 4"/>
          <p:cNvSpPr txBox="1"/>
          <p:nvPr/>
        </p:nvSpPr>
        <p:spPr>
          <a:xfrm>
            <a:off x="822960" y="2468880"/>
            <a:ext cx="3017520" cy="36576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Sudden Surge</a:t>
            </a:r>
            <a:endParaRPr lang="en-US" sz="1600" dirty="0"/>
          </a:p>
        </p:txBody>
      </p:sp>
      <p:sp>
        <p:nvSpPr>
          <p:cNvPr id="7" name="Text 5"/>
          <p:cNvSpPr txBox="1"/>
          <p:nvPr/>
        </p:nvSpPr>
        <p:spPr>
          <a:xfrm>
            <a:off x="822960" y="2880360"/>
            <a:ext cx="3017520" cy="914400"/>
          </a:xfrm>
          <a:prstGeom prst="rect">
            <a:avLst/>
          </a:prstGeom>
          <a:noFill/>
          <a:ln/>
        </p:spPr>
        <p:txBody>
          <a:bodyPr wrap="square" lIns="0" tIns="0" rIns="0" bIns="0" rtlCol="0" anchor="ctr"/>
          <a:lstStyle/>
          <a:p>
            <a:pPr indent="0" marL="0">
              <a:lnSpc>
                <a:spcPct val="115000"/>
              </a:lnSpc>
              <a:buNone/>
            </a:pPr>
            <a:r>
              <a:rPr lang="en-US" sz="1200" dirty="0">
                <a:solidFill>
                  <a:srgbClr val="44507A"/>
                </a:solidFill>
                <a:latin typeface="Calibri" pitchFamily="34" charset="0"/>
                <a:ea typeface="Calibri" pitchFamily="34" charset="-122"/>
                <a:cs typeface="Calibri" pitchFamily="34" charset="-120"/>
              </a:rPr>
              <a:t>Cancellations &amp; severe delays trigger a spike of high-stress passenger inquiries all at once.</a:t>
            </a:r>
            <a:endParaRPr lang="en-US" sz="1200" dirty="0"/>
          </a:p>
        </p:txBody>
      </p:sp>
      <p:sp>
        <p:nvSpPr>
          <p:cNvPr id="8" name="Shape 6"/>
          <p:cNvSpPr/>
          <p:nvPr/>
        </p:nvSpPr>
        <p:spPr>
          <a:xfrm>
            <a:off x="4343400" y="1600200"/>
            <a:ext cx="3566160" cy="2286000"/>
          </a:xfrm>
          <a:prstGeom prst="roundRect">
            <a:avLst>
              <a:gd name="adj" fmla="val 3200"/>
            </a:avLst>
          </a:prstGeom>
          <a:solidFill>
            <a:srgbClr val="FFFFFF"/>
          </a:solidFill>
          <a:ln/>
          <a:effectLst>
            <a:outerShdw sx="100000" sy="100000" kx="0" ky="0" algn="bl" rotWithShape="0" blurRad="101600" dist="38100" dir="5400000">
              <a:srgbClr val="666666">
                <a:alpha val="18000"/>
              </a:srgbClr>
            </a:outerShdw>
          </a:effectLst>
        </p:spPr>
      </p:sp>
      <p:sp>
        <p:nvSpPr>
          <p:cNvPr id="9" name="Shape 7"/>
          <p:cNvSpPr/>
          <p:nvPr/>
        </p:nvSpPr>
        <p:spPr>
          <a:xfrm>
            <a:off x="4617720" y="1874520"/>
            <a:ext cx="457200" cy="457200"/>
          </a:xfrm>
          <a:prstGeom prst="roundRect">
            <a:avLst>
              <a:gd name="adj" fmla="val 50000"/>
            </a:avLst>
          </a:prstGeom>
          <a:solidFill>
            <a:srgbClr val="5A6B8C"/>
          </a:solidFill>
          <a:ln/>
        </p:spPr>
      </p:sp>
      <p:sp>
        <p:nvSpPr>
          <p:cNvPr id="10" name="Text 8"/>
          <p:cNvSpPr txBox="1"/>
          <p:nvPr/>
        </p:nvSpPr>
        <p:spPr>
          <a:xfrm>
            <a:off x="4617720" y="2468880"/>
            <a:ext cx="3017520" cy="36576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Human Overload</a:t>
            </a:r>
            <a:endParaRPr lang="en-US" sz="1600" dirty="0"/>
          </a:p>
        </p:txBody>
      </p:sp>
      <p:sp>
        <p:nvSpPr>
          <p:cNvPr id="11" name="Text 9"/>
          <p:cNvSpPr txBox="1"/>
          <p:nvPr/>
        </p:nvSpPr>
        <p:spPr>
          <a:xfrm>
            <a:off x="4617720" y="2880360"/>
            <a:ext cx="3017520" cy="914400"/>
          </a:xfrm>
          <a:prstGeom prst="rect">
            <a:avLst/>
          </a:prstGeom>
          <a:noFill/>
          <a:ln/>
        </p:spPr>
        <p:txBody>
          <a:bodyPr wrap="square" lIns="0" tIns="0" rIns="0" bIns="0" rtlCol="0" anchor="ctr"/>
          <a:lstStyle/>
          <a:p>
            <a:pPr indent="0" marL="0">
              <a:lnSpc>
                <a:spcPct val="115000"/>
              </a:lnSpc>
              <a:buNone/>
            </a:pPr>
            <a:r>
              <a:rPr lang="en-US" sz="1200" dirty="0">
                <a:solidFill>
                  <a:srgbClr val="44507A"/>
                </a:solidFill>
                <a:latin typeface="Calibri" pitchFamily="34" charset="0"/>
                <a:ea typeface="Calibri" pitchFamily="34" charset="-122"/>
                <a:cs typeface="Calibri" pitchFamily="34" charset="-120"/>
              </a:rPr>
              <a:t>Frontline agents face high cognitive load — inconsistent exceptions, undocumented actions.</a:t>
            </a:r>
            <a:endParaRPr lang="en-US" sz="1200" dirty="0"/>
          </a:p>
        </p:txBody>
      </p:sp>
      <p:sp>
        <p:nvSpPr>
          <p:cNvPr id="12" name="Shape 10"/>
          <p:cNvSpPr/>
          <p:nvPr/>
        </p:nvSpPr>
        <p:spPr>
          <a:xfrm>
            <a:off x="8138160" y="1600200"/>
            <a:ext cx="3566160" cy="2286000"/>
          </a:xfrm>
          <a:prstGeom prst="roundRect">
            <a:avLst>
              <a:gd name="adj" fmla="val 3200"/>
            </a:avLst>
          </a:prstGeom>
          <a:solidFill>
            <a:srgbClr val="FFFFFF"/>
          </a:solidFill>
          <a:ln/>
          <a:effectLst>
            <a:outerShdw sx="100000" sy="100000" kx="0" ky="0" algn="bl" rotWithShape="0" blurRad="101600" dist="38100" dir="5400000">
              <a:srgbClr val="666666">
                <a:alpha val="18000"/>
              </a:srgbClr>
            </a:outerShdw>
          </a:effectLst>
        </p:spPr>
      </p:sp>
      <p:sp>
        <p:nvSpPr>
          <p:cNvPr id="13" name="Shape 11"/>
          <p:cNvSpPr/>
          <p:nvPr/>
        </p:nvSpPr>
        <p:spPr>
          <a:xfrm>
            <a:off x="8412480" y="1874520"/>
            <a:ext cx="457200" cy="457200"/>
          </a:xfrm>
          <a:prstGeom prst="roundRect">
            <a:avLst>
              <a:gd name="adj" fmla="val 50000"/>
            </a:avLst>
          </a:prstGeom>
          <a:solidFill>
            <a:srgbClr val="E14B4B"/>
          </a:solidFill>
          <a:ln/>
        </p:spPr>
      </p:sp>
      <p:sp>
        <p:nvSpPr>
          <p:cNvPr id="14" name="Text 12"/>
          <p:cNvSpPr txBox="1"/>
          <p:nvPr/>
        </p:nvSpPr>
        <p:spPr>
          <a:xfrm>
            <a:off x="8412480" y="2468880"/>
            <a:ext cx="3017520" cy="36576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Unguarded LLM Risk</a:t>
            </a:r>
            <a:endParaRPr lang="en-US" sz="1600" dirty="0"/>
          </a:p>
        </p:txBody>
      </p:sp>
      <p:sp>
        <p:nvSpPr>
          <p:cNvPr id="15" name="Text 13"/>
          <p:cNvSpPr txBox="1"/>
          <p:nvPr/>
        </p:nvSpPr>
        <p:spPr>
          <a:xfrm>
            <a:off x="8412480" y="2880360"/>
            <a:ext cx="3017520" cy="914400"/>
          </a:xfrm>
          <a:prstGeom prst="rect">
            <a:avLst/>
          </a:prstGeom>
          <a:noFill/>
          <a:ln/>
        </p:spPr>
        <p:txBody>
          <a:bodyPr wrap="square" lIns="0" tIns="0" rIns="0" bIns="0" rtlCol="0" anchor="ctr"/>
          <a:lstStyle/>
          <a:p>
            <a:pPr indent="0" marL="0">
              <a:lnSpc>
                <a:spcPct val="115000"/>
              </a:lnSpc>
              <a:buNone/>
            </a:pPr>
            <a:r>
              <a:rPr lang="en-US" sz="1200" dirty="0">
                <a:solidFill>
                  <a:srgbClr val="44507A"/>
                </a:solidFill>
                <a:latin typeface="Calibri" pitchFamily="34" charset="0"/>
                <a:ea typeface="Calibri" pitchFamily="34" charset="-122"/>
                <a:cs typeface="Calibri" pitchFamily="34" charset="-120"/>
              </a:rPr>
              <a:t>Hallucinated upgrades, unauthorized waivers, missed legal escalations if left ungoverned.</a:t>
            </a:r>
            <a:endParaRPr lang="en-US" sz="1200" dirty="0"/>
          </a:p>
        </p:txBody>
      </p:sp>
      <p:sp>
        <p:nvSpPr>
          <p:cNvPr id="16" name="Shape 14"/>
          <p:cNvSpPr/>
          <p:nvPr/>
        </p:nvSpPr>
        <p:spPr>
          <a:xfrm>
            <a:off x="548640" y="4160520"/>
            <a:ext cx="11064240" cy="1737360"/>
          </a:xfrm>
          <a:prstGeom prst="roundRect">
            <a:avLst>
              <a:gd name="adj" fmla="val 4211"/>
            </a:avLst>
          </a:prstGeom>
          <a:solidFill>
            <a:srgbClr val="1E2761"/>
          </a:solidFill>
          <a:ln/>
        </p:spPr>
      </p:sp>
      <p:sp>
        <p:nvSpPr>
          <p:cNvPr id="17" name="Text 15"/>
          <p:cNvSpPr txBox="1"/>
          <p:nvPr/>
        </p:nvSpPr>
        <p:spPr>
          <a:xfrm>
            <a:off x="868680" y="4370832"/>
            <a:ext cx="3657600" cy="274320"/>
          </a:xfrm>
          <a:prstGeom prst="rect">
            <a:avLst/>
          </a:prstGeom>
          <a:noFill/>
          <a:ln/>
        </p:spPr>
        <p:txBody>
          <a:bodyPr wrap="square" lIns="0" tIns="0" rIns="0" bIns="0" rtlCol="0" anchor="ctr"/>
          <a:lstStyle/>
          <a:p>
            <a:pPr indent="0" marL="0">
              <a:buNone/>
            </a:pPr>
            <a:r>
              <a:rPr lang="en-US" sz="1100" b="1" spc="200" kern="0" dirty="0">
                <a:solidFill>
                  <a:srgbClr val="F2A93B"/>
                </a:solidFill>
                <a:latin typeface="Calibri" pitchFamily="34" charset="0"/>
                <a:ea typeface="Calibri" pitchFamily="34" charset="-122"/>
                <a:cs typeface="Calibri" pitchFamily="34" charset="-120"/>
              </a:rPr>
              <a:t>OUR MISSION</a:t>
            </a:r>
            <a:endParaRPr lang="en-US" sz="1100" dirty="0"/>
          </a:p>
        </p:txBody>
      </p:sp>
      <p:sp>
        <p:nvSpPr>
          <p:cNvPr id="18" name="Text 16"/>
          <p:cNvSpPr txBox="1"/>
          <p:nvPr/>
        </p:nvSpPr>
        <p:spPr>
          <a:xfrm>
            <a:off x="868680" y="4663440"/>
            <a:ext cx="10424160" cy="1097280"/>
          </a:xfrm>
          <a:prstGeom prst="rect">
            <a:avLst/>
          </a:prstGeom>
          <a:noFill/>
          <a:ln/>
        </p:spPr>
        <p:txBody>
          <a:bodyPr wrap="square" lIns="0" tIns="0" rIns="0" bIns="0" rtlCol="0" anchor="ctr"/>
          <a:lstStyle/>
          <a:p>
            <a:pPr indent="0" marL="0">
              <a:lnSpc>
                <a:spcPct val="120000"/>
              </a:lnSpc>
              <a:buNone/>
            </a:pPr>
            <a:r>
              <a:rPr lang="en-US" sz="1500" dirty="0">
                <a:solidFill>
                  <a:srgbClr val="FFFFFF"/>
                </a:solidFill>
                <a:latin typeface="Calibri" pitchFamily="34" charset="0"/>
                <a:ea typeface="Calibri" pitchFamily="34" charset="-122"/>
                <a:cs typeface="Calibri" pitchFamily="34" charset="-120"/>
              </a:rPr>
              <a:t>Build an autonomous agent that understands passenger intent, asks only necessary questions, executes grounded policy actions, de-escalates emotion, and preserves an unalterable action trail.</a:t>
            </a:r>
            <a:endParaRPr lang="en-US" sz="1500" dirty="0"/>
          </a:p>
        </p:txBody>
      </p:sp>
      <p:sp>
        <p:nvSpPr>
          <p:cNvPr id="19" name="Text 17"/>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8C97AE"/>
                </a:solidFill>
                <a:latin typeface="Calibri" pitchFamily="34" charset="0"/>
                <a:ea typeface="Calibri" pitchFamily="34" charset="-122"/>
                <a:cs typeface="Calibri" pitchFamily="34" charset="-120"/>
              </a:rPr>
              <a:t>SkyAssist — AIONOS Agentic AI Factory · Assignment 3</a:t>
            </a:r>
            <a:endParaRPr lang="en-US" sz="900" dirty="0"/>
          </a:p>
        </p:txBody>
      </p:sp>
      <p:sp>
        <p:nvSpPr>
          <p:cNvPr id="20" name="Text 18"/>
          <p:cNvSpPr txBox="1"/>
          <p:nvPr/>
        </p:nvSpPr>
        <p:spPr>
          <a:xfrm>
            <a:off x="11365992" y="6473952"/>
            <a:ext cx="457200" cy="274320"/>
          </a:xfrm>
          <a:prstGeom prst="rect">
            <a:avLst/>
          </a:prstGeom>
          <a:noFill/>
          <a:ln/>
        </p:spPr>
        <p:txBody>
          <a:bodyPr wrap="square" lIns="0" tIns="0" rIns="0" bIns="0" rtlCol="0" anchor="ctr"/>
          <a:lstStyle/>
          <a:p>
            <a:pPr algn="r" indent="0" marL="0">
              <a:buNone/>
            </a:pPr>
            <a:r>
              <a:rPr lang="en-US" sz="900" dirty="0">
                <a:solidFill>
                  <a:srgbClr val="8C97AE"/>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B"/>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5A6B8C"/>
                </a:solidFill>
                <a:latin typeface="Calibri" pitchFamily="34" charset="0"/>
                <a:ea typeface="Calibri" pitchFamily="34" charset="-122"/>
                <a:cs typeface="Calibri" pitchFamily="34" charset="-120"/>
              </a:rPr>
              <a:t>SYSTEM DESIGN</a:t>
            </a:r>
            <a:endParaRPr lang="en-US" sz="1200" dirty="0"/>
          </a:p>
        </p:txBody>
      </p:sp>
      <p:sp>
        <p:nvSpPr>
          <p:cNvPr id="3" name="Text 1"/>
          <p:cNvSpPr txBox="1"/>
          <p:nvPr/>
        </p:nvSpPr>
        <p:spPr>
          <a:xfrm>
            <a:off x="548640" y="621792"/>
            <a:ext cx="109728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Architecture &amp; Process Flow</a:t>
            </a:r>
            <a:endParaRPr lang="en-US" sz="3000" dirty="0"/>
          </a:p>
        </p:txBody>
      </p:sp>
      <p:sp>
        <p:nvSpPr>
          <p:cNvPr id="4" name="Shape 2"/>
          <p:cNvSpPr/>
          <p:nvPr/>
        </p:nvSpPr>
        <p:spPr>
          <a:xfrm>
            <a:off x="548640" y="1554480"/>
            <a:ext cx="384048" cy="384048"/>
          </a:xfrm>
          <a:prstGeom prst="roundRect">
            <a:avLst>
              <a:gd name="adj" fmla="val 19048"/>
            </a:avLst>
          </a:prstGeom>
          <a:solidFill>
            <a:srgbClr val="1E2761"/>
          </a:solidFill>
          <a:ln/>
        </p:spPr>
      </p:sp>
      <p:sp>
        <p:nvSpPr>
          <p:cNvPr id="5" name="Text 3"/>
          <p:cNvSpPr txBox="1"/>
          <p:nvPr/>
        </p:nvSpPr>
        <p:spPr>
          <a:xfrm>
            <a:off x="548640" y="15544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097280" y="1527048"/>
            <a:ext cx="3291840" cy="438912"/>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1. Interaction Layer</a:t>
            </a:r>
            <a:endParaRPr lang="en-US" sz="1350" dirty="0"/>
          </a:p>
        </p:txBody>
      </p:sp>
      <p:sp>
        <p:nvSpPr>
          <p:cNvPr id="7" name="Text 5"/>
          <p:cNvSpPr txBox="1"/>
          <p:nvPr/>
        </p:nvSpPr>
        <p:spPr>
          <a:xfrm>
            <a:off x="4434840" y="1527048"/>
            <a:ext cx="5120640" cy="438912"/>
          </a:xfrm>
          <a:prstGeom prst="rect">
            <a:avLst/>
          </a:prstGeom>
          <a:noFill/>
          <a:ln/>
        </p:spPr>
        <p:txBody>
          <a:bodyPr wrap="square" lIns="0" tIns="0" rIns="0" bIns="0" rtlCol="0" anchor="ctr"/>
          <a:lstStyle/>
          <a:p>
            <a:pPr indent="0" marL="0">
              <a:buNone/>
            </a:pPr>
            <a:r>
              <a:rPr lang="en-US" sz="1150" dirty="0">
                <a:solidFill>
                  <a:srgbClr val="44507A"/>
                </a:solidFill>
                <a:latin typeface="Calibri" pitchFamily="34" charset="0"/>
                <a:ea typeface="Calibri" pitchFamily="34" charset="-122"/>
                <a:cs typeface="Calibri" pitchFamily="34" charset="-120"/>
              </a:rPr>
              <a:t>Three-panel cockpit — passenger/PNR selector, conversational stream, live action &amp; audit dashboard.</a:t>
            </a:r>
            <a:endParaRPr lang="en-US" sz="1150" dirty="0"/>
          </a:p>
        </p:txBody>
      </p:sp>
      <p:sp>
        <p:nvSpPr>
          <p:cNvPr id="8" name="Shape 6"/>
          <p:cNvSpPr/>
          <p:nvPr/>
        </p:nvSpPr>
        <p:spPr>
          <a:xfrm>
            <a:off x="740664" y="1975104"/>
            <a:ext cx="0" cy="329184"/>
          </a:xfrm>
          <a:prstGeom prst="line">
            <a:avLst/>
          </a:prstGeom>
          <a:noFill/>
          <a:ln w="19050">
            <a:solidFill>
              <a:srgbClr val="C7D0E8"/>
            </a:solidFill>
            <a:prstDash val="dash"/>
          </a:ln>
        </p:spPr>
      </p:sp>
      <p:sp>
        <p:nvSpPr>
          <p:cNvPr id="9" name="Shape 7"/>
          <p:cNvSpPr/>
          <p:nvPr/>
        </p:nvSpPr>
        <p:spPr>
          <a:xfrm>
            <a:off x="548640" y="2304288"/>
            <a:ext cx="384048" cy="384048"/>
          </a:xfrm>
          <a:prstGeom prst="roundRect">
            <a:avLst>
              <a:gd name="adj" fmla="val 19048"/>
            </a:avLst>
          </a:prstGeom>
          <a:solidFill>
            <a:srgbClr val="5A6B8C"/>
          </a:solidFill>
          <a:ln/>
        </p:spPr>
      </p:sp>
      <p:sp>
        <p:nvSpPr>
          <p:cNvPr id="10" name="Text 8"/>
          <p:cNvSpPr txBox="1"/>
          <p:nvPr/>
        </p:nvSpPr>
        <p:spPr>
          <a:xfrm>
            <a:off x="548640" y="23042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097280" y="2276856"/>
            <a:ext cx="3291840" cy="438912"/>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2. Gateway Layer</a:t>
            </a:r>
            <a:endParaRPr lang="en-US" sz="1350" dirty="0"/>
          </a:p>
        </p:txBody>
      </p:sp>
      <p:sp>
        <p:nvSpPr>
          <p:cNvPr id="12" name="Text 10"/>
          <p:cNvSpPr txBox="1"/>
          <p:nvPr/>
        </p:nvSpPr>
        <p:spPr>
          <a:xfrm>
            <a:off x="4434840" y="2276856"/>
            <a:ext cx="5120640" cy="438912"/>
          </a:xfrm>
          <a:prstGeom prst="rect">
            <a:avLst/>
          </a:prstGeom>
          <a:noFill/>
          <a:ln/>
        </p:spPr>
        <p:txBody>
          <a:bodyPr wrap="square" lIns="0" tIns="0" rIns="0" bIns="0" rtlCol="0" anchor="ctr"/>
          <a:lstStyle/>
          <a:p>
            <a:pPr indent="0" marL="0">
              <a:buNone/>
            </a:pPr>
            <a:r>
              <a:rPr lang="en-US" sz="1150" dirty="0">
                <a:solidFill>
                  <a:srgbClr val="44507A"/>
                </a:solidFill>
                <a:latin typeface="Calibri" pitchFamily="34" charset="0"/>
                <a:ea typeface="Calibri" pitchFamily="34" charset="-122"/>
                <a:cs typeface="Calibri" pitchFamily="34" charset="-120"/>
              </a:rPr>
              <a:t>Asynchronous FastAPI server, state-isolated per-session context, live API key injection.</a:t>
            </a:r>
            <a:endParaRPr lang="en-US" sz="1150" dirty="0"/>
          </a:p>
        </p:txBody>
      </p:sp>
      <p:sp>
        <p:nvSpPr>
          <p:cNvPr id="13" name="Shape 11"/>
          <p:cNvSpPr/>
          <p:nvPr/>
        </p:nvSpPr>
        <p:spPr>
          <a:xfrm>
            <a:off x="740664" y="2724912"/>
            <a:ext cx="0" cy="329184"/>
          </a:xfrm>
          <a:prstGeom prst="line">
            <a:avLst/>
          </a:prstGeom>
          <a:noFill/>
          <a:ln w="19050">
            <a:solidFill>
              <a:srgbClr val="C7D0E8"/>
            </a:solidFill>
            <a:prstDash val="dash"/>
          </a:ln>
        </p:spPr>
      </p:sp>
      <p:sp>
        <p:nvSpPr>
          <p:cNvPr id="14" name="Shape 12"/>
          <p:cNvSpPr/>
          <p:nvPr/>
        </p:nvSpPr>
        <p:spPr>
          <a:xfrm>
            <a:off x="548640" y="3054096"/>
            <a:ext cx="384048" cy="384048"/>
          </a:xfrm>
          <a:prstGeom prst="roundRect">
            <a:avLst>
              <a:gd name="adj" fmla="val 19048"/>
            </a:avLst>
          </a:prstGeom>
          <a:solidFill>
            <a:srgbClr val="3B4FA6"/>
          </a:solidFill>
          <a:ln/>
        </p:spPr>
      </p:sp>
      <p:sp>
        <p:nvSpPr>
          <p:cNvPr id="15" name="Text 13"/>
          <p:cNvSpPr txBox="1"/>
          <p:nvPr/>
        </p:nvSpPr>
        <p:spPr>
          <a:xfrm>
            <a:off x="548640" y="305409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txBox="1"/>
          <p:nvPr/>
        </p:nvSpPr>
        <p:spPr>
          <a:xfrm>
            <a:off x="1097280" y="3026664"/>
            <a:ext cx="3291840" cy="438912"/>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3. Reasoning Layer</a:t>
            </a:r>
            <a:endParaRPr lang="en-US" sz="1350" dirty="0"/>
          </a:p>
        </p:txBody>
      </p:sp>
      <p:sp>
        <p:nvSpPr>
          <p:cNvPr id="17" name="Text 15"/>
          <p:cNvSpPr txBox="1"/>
          <p:nvPr/>
        </p:nvSpPr>
        <p:spPr>
          <a:xfrm>
            <a:off x="4434840" y="3026664"/>
            <a:ext cx="5120640" cy="438912"/>
          </a:xfrm>
          <a:prstGeom prst="rect">
            <a:avLst/>
          </a:prstGeom>
          <a:noFill/>
          <a:ln/>
        </p:spPr>
        <p:txBody>
          <a:bodyPr wrap="square" lIns="0" tIns="0" rIns="0" bIns="0" rtlCol="0" anchor="ctr"/>
          <a:lstStyle/>
          <a:p>
            <a:pPr indent="0" marL="0">
              <a:buNone/>
            </a:pPr>
            <a:r>
              <a:rPr lang="en-US" sz="1150" dirty="0">
                <a:solidFill>
                  <a:srgbClr val="44507A"/>
                </a:solidFill>
                <a:latin typeface="Calibri" pitchFamily="34" charset="0"/>
                <a:ea typeface="Calibri" pitchFamily="34" charset="-122"/>
                <a:cs typeface="Calibri" pitchFamily="34" charset="-120"/>
              </a:rPr>
              <a:t>Groq-accelerated GPT-OSS 120B · temperature 0.2 · strict JSON schema output.</a:t>
            </a:r>
            <a:endParaRPr lang="en-US" sz="1150" dirty="0"/>
          </a:p>
        </p:txBody>
      </p:sp>
      <p:sp>
        <p:nvSpPr>
          <p:cNvPr id="18" name="Shape 16"/>
          <p:cNvSpPr/>
          <p:nvPr/>
        </p:nvSpPr>
        <p:spPr>
          <a:xfrm>
            <a:off x="740664" y="3474720"/>
            <a:ext cx="0" cy="329184"/>
          </a:xfrm>
          <a:prstGeom prst="line">
            <a:avLst/>
          </a:prstGeom>
          <a:noFill/>
          <a:ln w="19050">
            <a:solidFill>
              <a:srgbClr val="C7D0E8"/>
            </a:solidFill>
            <a:prstDash val="dash"/>
          </a:ln>
        </p:spPr>
      </p:sp>
      <p:sp>
        <p:nvSpPr>
          <p:cNvPr id="19" name="Shape 17"/>
          <p:cNvSpPr/>
          <p:nvPr/>
        </p:nvSpPr>
        <p:spPr>
          <a:xfrm>
            <a:off x="548640" y="3803904"/>
            <a:ext cx="384048" cy="384048"/>
          </a:xfrm>
          <a:prstGeom prst="roundRect">
            <a:avLst>
              <a:gd name="adj" fmla="val 19048"/>
            </a:avLst>
          </a:prstGeom>
          <a:solidFill>
            <a:srgbClr val="E14B4B"/>
          </a:solidFill>
          <a:ln/>
        </p:spPr>
      </p:sp>
      <p:sp>
        <p:nvSpPr>
          <p:cNvPr id="20" name="Text 18"/>
          <p:cNvSpPr txBox="1"/>
          <p:nvPr/>
        </p:nvSpPr>
        <p:spPr>
          <a:xfrm>
            <a:off x="548640" y="38039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9"/>
          <p:cNvSpPr txBox="1"/>
          <p:nvPr/>
        </p:nvSpPr>
        <p:spPr>
          <a:xfrm>
            <a:off x="1097280" y="3776472"/>
            <a:ext cx="3291840" cy="438912"/>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4. Guardrail Layer</a:t>
            </a:r>
            <a:endParaRPr lang="en-US" sz="1350" dirty="0"/>
          </a:p>
        </p:txBody>
      </p:sp>
      <p:sp>
        <p:nvSpPr>
          <p:cNvPr id="22" name="Text 20"/>
          <p:cNvSpPr txBox="1"/>
          <p:nvPr/>
        </p:nvSpPr>
        <p:spPr>
          <a:xfrm>
            <a:off x="4434840" y="3776472"/>
            <a:ext cx="5120640" cy="438912"/>
          </a:xfrm>
          <a:prstGeom prst="rect">
            <a:avLst/>
          </a:prstGeom>
          <a:noFill/>
          <a:ln/>
        </p:spPr>
        <p:txBody>
          <a:bodyPr wrap="square" lIns="0" tIns="0" rIns="0" bIns="0" rtlCol="0" anchor="ctr"/>
          <a:lstStyle/>
          <a:p>
            <a:pPr indent="0" marL="0">
              <a:buNone/>
            </a:pPr>
            <a:r>
              <a:rPr lang="en-US" sz="1150" dirty="0">
                <a:solidFill>
                  <a:srgbClr val="44507A"/>
                </a:solidFill>
                <a:latin typeface="Calibri" pitchFamily="34" charset="0"/>
                <a:ea typeface="Calibri" pitchFamily="34" charset="-122"/>
                <a:cs typeface="Calibri" pitchFamily="34" charset="-120"/>
              </a:rPr>
              <a:t>Programmatic Python interceptor enforcing allowed vs. prohibited action boundaries.</a:t>
            </a:r>
            <a:endParaRPr lang="en-US" sz="1150" dirty="0"/>
          </a:p>
        </p:txBody>
      </p:sp>
      <p:sp>
        <p:nvSpPr>
          <p:cNvPr id="23" name="Shape 21"/>
          <p:cNvSpPr/>
          <p:nvPr/>
        </p:nvSpPr>
        <p:spPr>
          <a:xfrm>
            <a:off x="740664" y="4224528"/>
            <a:ext cx="0" cy="329184"/>
          </a:xfrm>
          <a:prstGeom prst="line">
            <a:avLst/>
          </a:prstGeom>
          <a:noFill/>
          <a:ln w="19050">
            <a:solidFill>
              <a:srgbClr val="C7D0E8"/>
            </a:solidFill>
            <a:prstDash val="dash"/>
          </a:ln>
        </p:spPr>
      </p:sp>
      <p:sp>
        <p:nvSpPr>
          <p:cNvPr id="24" name="Shape 22"/>
          <p:cNvSpPr/>
          <p:nvPr/>
        </p:nvSpPr>
        <p:spPr>
          <a:xfrm>
            <a:off x="548640" y="4553712"/>
            <a:ext cx="384048" cy="384048"/>
          </a:xfrm>
          <a:prstGeom prst="roundRect">
            <a:avLst>
              <a:gd name="adj" fmla="val 19048"/>
            </a:avLst>
          </a:prstGeom>
          <a:solidFill>
            <a:srgbClr val="2FA97E"/>
          </a:solidFill>
          <a:ln/>
        </p:spPr>
      </p:sp>
      <p:sp>
        <p:nvSpPr>
          <p:cNvPr id="25" name="Text 23"/>
          <p:cNvSpPr txBox="1"/>
          <p:nvPr/>
        </p:nvSpPr>
        <p:spPr>
          <a:xfrm>
            <a:off x="548640" y="45537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Text 24"/>
          <p:cNvSpPr txBox="1"/>
          <p:nvPr/>
        </p:nvSpPr>
        <p:spPr>
          <a:xfrm>
            <a:off x="1097280" y="4526280"/>
            <a:ext cx="3291840" cy="438912"/>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5. Action &amp; State Store</a:t>
            </a:r>
            <a:endParaRPr lang="en-US" sz="1350" dirty="0"/>
          </a:p>
        </p:txBody>
      </p:sp>
      <p:sp>
        <p:nvSpPr>
          <p:cNvPr id="27" name="Text 25"/>
          <p:cNvSpPr txBox="1"/>
          <p:nvPr/>
        </p:nvSpPr>
        <p:spPr>
          <a:xfrm>
            <a:off x="4434840" y="4526280"/>
            <a:ext cx="5120640" cy="438912"/>
          </a:xfrm>
          <a:prstGeom prst="rect">
            <a:avLst/>
          </a:prstGeom>
          <a:noFill/>
          <a:ln/>
        </p:spPr>
        <p:txBody>
          <a:bodyPr wrap="square" lIns="0" tIns="0" rIns="0" bIns="0" rtlCol="0" anchor="ctr"/>
          <a:lstStyle/>
          <a:p>
            <a:pPr indent="0" marL="0">
              <a:buNone/>
            </a:pPr>
            <a:r>
              <a:rPr lang="en-US" sz="1150" dirty="0">
                <a:solidFill>
                  <a:srgbClr val="44507A"/>
                </a:solidFill>
                <a:latin typeface="Calibri" pitchFamily="34" charset="0"/>
                <a:ea typeface="Calibri" pitchFamily="34" charset="-122"/>
                <a:cs typeface="Calibri" pitchFamily="34" charset="-120"/>
              </a:rPr>
              <a:t>Real-time ledger of vouchers, refunds, rebookings + supervisor escalation queue.</a:t>
            </a:r>
            <a:endParaRPr lang="en-US" sz="1150" dirty="0"/>
          </a:p>
        </p:txBody>
      </p:sp>
      <p:sp>
        <p:nvSpPr>
          <p:cNvPr id="28" name="Text 26"/>
          <p:cNvSpPr txBox="1"/>
          <p:nvPr/>
        </p:nvSpPr>
        <p:spPr>
          <a:xfrm>
            <a:off x="9509760" y="1417320"/>
            <a:ext cx="2377440" cy="274320"/>
          </a:xfrm>
          <a:prstGeom prst="rect">
            <a:avLst/>
          </a:prstGeom>
          <a:noFill/>
          <a:ln/>
        </p:spPr>
        <p:txBody>
          <a:bodyPr wrap="square" lIns="0" tIns="0" rIns="0" bIns="0" rtlCol="0" anchor="ctr"/>
          <a:lstStyle/>
          <a:p>
            <a:pPr indent="0" marL="0">
              <a:buNone/>
            </a:pPr>
            <a:r>
              <a:rPr lang="en-US" sz="1000" b="1" spc="100" kern="0" dirty="0">
                <a:solidFill>
                  <a:srgbClr val="5A6B8C"/>
                </a:solidFill>
                <a:latin typeface="Calibri" pitchFamily="34" charset="0"/>
                <a:ea typeface="Calibri" pitchFamily="34" charset="-122"/>
                <a:cs typeface="Calibri" pitchFamily="34" charset="-120"/>
              </a:rPr>
              <a:t>PROCESS FLOW</a:t>
            </a:r>
            <a:endParaRPr lang="en-US" sz="1000" dirty="0"/>
          </a:p>
        </p:txBody>
      </p:sp>
      <p:sp>
        <p:nvSpPr>
          <p:cNvPr id="29" name="Shape 27"/>
          <p:cNvSpPr/>
          <p:nvPr/>
        </p:nvSpPr>
        <p:spPr>
          <a:xfrm>
            <a:off x="9646920" y="1783080"/>
            <a:ext cx="2011680" cy="566928"/>
          </a:xfrm>
          <a:prstGeom prst="roundRect">
            <a:avLst>
              <a:gd name="adj" fmla="val 9677"/>
            </a:avLst>
          </a:prstGeom>
          <a:solidFill>
            <a:srgbClr val="CADCFC"/>
          </a:solidFill>
          <a:ln/>
        </p:spPr>
      </p:sp>
      <p:sp>
        <p:nvSpPr>
          <p:cNvPr id="30" name="Text 28"/>
          <p:cNvSpPr txBox="1"/>
          <p:nvPr/>
        </p:nvSpPr>
        <p:spPr>
          <a:xfrm>
            <a:off x="9646920" y="1783080"/>
            <a:ext cx="2011680" cy="566928"/>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Message</a:t>
            </a:r>
            <a:endParaRPr lang="en-US" sz="1050" dirty="0"/>
          </a:p>
        </p:txBody>
      </p:sp>
      <p:sp>
        <p:nvSpPr>
          <p:cNvPr id="31" name="Text 29"/>
          <p:cNvSpPr txBox="1"/>
          <p:nvPr/>
        </p:nvSpPr>
        <p:spPr>
          <a:xfrm>
            <a:off x="9646920" y="2331720"/>
            <a:ext cx="2011680" cy="219456"/>
          </a:xfrm>
          <a:prstGeom prst="rect">
            <a:avLst/>
          </a:prstGeom>
          <a:noFill/>
          <a:ln/>
        </p:spPr>
        <p:txBody>
          <a:bodyPr wrap="square" lIns="0" tIns="0" rIns="0" bIns="0" rtlCol="0" anchor="ctr"/>
          <a:lstStyle/>
          <a:p>
            <a:pPr algn="ctr" indent="0" marL="0">
              <a:buNone/>
            </a:pPr>
            <a:r>
              <a:rPr lang="en-US" sz="1200" dirty="0">
                <a:solidFill>
                  <a:srgbClr val="5A6B8C"/>
                </a:solidFill>
                <a:latin typeface="Calibri" pitchFamily="34" charset="0"/>
                <a:ea typeface="Calibri" pitchFamily="34" charset="-122"/>
                <a:cs typeface="Calibri" pitchFamily="34" charset="-120"/>
              </a:rPr>
              <a:t>↓</a:t>
            </a:r>
            <a:endParaRPr lang="en-US" sz="1200" dirty="0"/>
          </a:p>
        </p:txBody>
      </p:sp>
      <p:sp>
        <p:nvSpPr>
          <p:cNvPr id="32" name="Shape 30"/>
          <p:cNvSpPr/>
          <p:nvPr/>
        </p:nvSpPr>
        <p:spPr>
          <a:xfrm>
            <a:off x="9646920" y="2569464"/>
            <a:ext cx="2011680" cy="566928"/>
          </a:xfrm>
          <a:prstGeom prst="roundRect">
            <a:avLst>
              <a:gd name="adj" fmla="val 9677"/>
            </a:avLst>
          </a:prstGeom>
          <a:solidFill>
            <a:srgbClr val="CADCFC"/>
          </a:solidFill>
          <a:ln/>
        </p:spPr>
      </p:sp>
      <p:sp>
        <p:nvSpPr>
          <p:cNvPr id="33" name="Text 31"/>
          <p:cNvSpPr txBox="1"/>
          <p:nvPr/>
        </p:nvSpPr>
        <p:spPr>
          <a:xfrm>
            <a:off x="9646920" y="2569464"/>
            <a:ext cx="2011680" cy="566928"/>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Context</a:t>
            </a:r>
            <a:endParaRPr lang="en-US" sz="1050" dirty="0"/>
          </a:p>
          <a:p>
            <a:pPr algn="ctr" indent="0" marL="0">
              <a:buNone/>
            </a:pPr>
            <a:r>
              <a:rPr lang="en-US" sz="1050" b="1" dirty="0">
                <a:solidFill>
                  <a:srgbClr val="1E2761"/>
                </a:solidFill>
                <a:latin typeface="Calibri" pitchFamily="34" charset="0"/>
                <a:ea typeface="Calibri" pitchFamily="34" charset="-122"/>
                <a:cs typeface="Calibri" pitchFamily="34" charset="-120"/>
              </a:rPr>
              <a:t>Assembly</a:t>
            </a:r>
            <a:endParaRPr lang="en-US" sz="1050" dirty="0"/>
          </a:p>
        </p:txBody>
      </p:sp>
      <p:sp>
        <p:nvSpPr>
          <p:cNvPr id="34" name="Text 32"/>
          <p:cNvSpPr txBox="1"/>
          <p:nvPr/>
        </p:nvSpPr>
        <p:spPr>
          <a:xfrm>
            <a:off x="9646920" y="3118104"/>
            <a:ext cx="2011680" cy="219456"/>
          </a:xfrm>
          <a:prstGeom prst="rect">
            <a:avLst/>
          </a:prstGeom>
          <a:noFill/>
          <a:ln/>
        </p:spPr>
        <p:txBody>
          <a:bodyPr wrap="square" lIns="0" tIns="0" rIns="0" bIns="0" rtlCol="0" anchor="ctr"/>
          <a:lstStyle/>
          <a:p>
            <a:pPr algn="ctr" indent="0" marL="0">
              <a:buNone/>
            </a:pPr>
            <a:r>
              <a:rPr lang="en-US" sz="1200" dirty="0">
                <a:solidFill>
                  <a:srgbClr val="5A6B8C"/>
                </a:solidFill>
                <a:latin typeface="Calibri" pitchFamily="34" charset="0"/>
                <a:ea typeface="Calibri" pitchFamily="34" charset="-122"/>
                <a:cs typeface="Calibri" pitchFamily="34" charset="-120"/>
              </a:rPr>
              <a:t>↓</a:t>
            </a:r>
            <a:endParaRPr lang="en-US" sz="1200" dirty="0"/>
          </a:p>
        </p:txBody>
      </p:sp>
      <p:sp>
        <p:nvSpPr>
          <p:cNvPr id="35" name="Shape 33"/>
          <p:cNvSpPr/>
          <p:nvPr/>
        </p:nvSpPr>
        <p:spPr>
          <a:xfrm>
            <a:off x="9646920" y="3355848"/>
            <a:ext cx="2011680" cy="566928"/>
          </a:xfrm>
          <a:prstGeom prst="roundRect">
            <a:avLst>
              <a:gd name="adj" fmla="val 9677"/>
            </a:avLst>
          </a:prstGeom>
          <a:solidFill>
            <a:srgbClr val="CADCFC"/>
          </a:solidFill>
          <a:ln/>
        </p:spPr>
      </p:sp>
      <p:sp>
        <p:nvSpPr>
          <p:cNvPr id="36" name="Text 34"/>
          <p:cNvSpPr txBox="1"/>
          <p:nvPr/>
        </p:nvSpPr>
        <p:spPr>
          <a:xfrm>
            <a:off x="9646920" y="3355848"/>
            <a:ext cx="2011680" cy="566928"/>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LLM</a:t>
            </a:r>
            <a:endParaRPr lang="en-US" sz="1050" dirty="0"/>
          </a:p>
          <a:p>
            <a:pPr algn="ctr" indent="0" marL="0">
              <a:buNone/>
            </a:pPr>
            <a:r>
              <a:rPr lang="en-US" sz="1050" b="1" dirty="0">
                <a:solidFill>
                  <a:srgbClr val="1E2761"/>
                </a:solidFill>
                <a:latin typeface="Calibri" pitchFamily="34" charset="0"/>
                <a:ea typeface="Calibri" pitchFamily="34" charset="-122"/>
                <a:cs typeface="Calibri" pitchFamily="34" charset="-120"/>
              </a:rPr>
              <a:t>Reasoning</a:t>
            </a:r>
            <a:endParaRPr lang="en-US" sz="1050" dirty="0"/>
          </a:p>
        </p:txBody>
      </p:sp>
      <p:sp>
        <p:nvSpPr>
          <p:cNvPr id="37" name="Text 35"/>
          <p:cNvSpPr txBox="1"/>
          <p:nvPr/>
        </p:nvSpPr>
        <p:spPr>
          <a:xfrm>
            <a:off x="9646920" y="3904488"/>
            <a:ext cx="2011680" cy="219456"/>
          </a:xfrm>
          <a:prstGeom prst="rect">
            <a:avLst/>
          </a:prstGeom>
          <a:noFill/>
          <a:ln/>
        </p:spPr>
        <p:txBody>
          <a:bodyPr wrap="square" lIns="0" tIns="0" rIns="0" bIns="0" rtlCol="0" anchor="ctr"/>
          <a:lstStyle/>
          <a:p>
            <a:pPr algn="ctr" indent="0" marL="0">
              <a:buNone/>
            </a:pPr>
            <a:r>
              <a:rPr lang="en-US" sz="1200" dirty="0">
                <a:solidFill>
                  <a:srgbClr val="5A6B8C"/>
                </a:solidFill>
                <a:latin typeface="Calibri" pitchFamily="34" charset="0"/>
                <a:ea typeface="Calibri" pitchFamily="34" charset="-122"/>
                <a:cs typeface="Calibri" pitchFamily="34" charset="-120"/>
              </a:rPr>
              <a:t>↓</a:t>
            </a:r>
            <a:endParaRPr lang="en-US" sz="1200" dirty="0"/>
          </a:p>
        </p:txBody>
      </p:sp>
      <p:sp>
        <p:nvSpPr>
          <p:cNvPr id="38" name="Shape 36"/>
          <p:cNvSpPr/>
          <p:nvPr/>
        </p:nvSpPr>
        <p:spPr>
          <a:xfrm>
            <a:off x="9646920" y="4142232"/>
            <a:ext cx="2011680" cy="566928"/>
          </a:xfrm>
          <a:prstGeom prst="roundRect">
            <a:avLst>
              <a:gd name="adj" fmla="val 9677"/>
            </a:avLst>
          </a:prstGeom>
          <a:solidFill>
            <a:srgbClr val="E14B4B"/>
          </a:solidFill>
          <a:ln/>
        </p:spPr>
      </p:sp>
      <p:sp>
        <p:nvSpPr>
          <p:cNvPr id="39" name="Text 37"/>
          <p:cNvSpPr txBox="1"/>
          <p:nvPr/>
        </p:nvSpPr>
        <p:spPr>
          <a:xfrm>
            <a:off x="9646920" y="4142232"/>
            <a:ext cx="2011680" cy="56692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Guardrail</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Check</a:t>
            </a:r>
            <a:endParaRPr lang="en-US" sz="1050" dirty="0"/>
          </a:p>
        </p:txBody>
      </p:sp>
      <p:sp>
        <p:nvSpPr>
          <p:cNvPr id="40" name="Text 38"/>
          <p:cNvSpPr txBox="1"/>
          <p:nvPr/>
        </p:nvSpPr>
        <p:spPr>
          <a:xfrm>
            <a:off x="9646920" y="4690872"/>
            <a:ext cx="2011680" cy="219456"/>
          </a:xfrm>
          <a:prstGeom prst="rect">
            <a:avLst/>
          </a:prstGeom>
          <a:noFill/>
          <a:ln/>
        </p:spPr>
        <p:txBody>
          <a:bodyPr wrap="square" lIns="0" tIns="0" rIns="0" bIns="0" rtlCol="0" anchor="ctr"/>
          <a:lstStyle/>
          <a:p>
            <a:pPr algn="ctr" indent="0" marL="0">
              <a:buNone/>
            </a:pPr>
            <a:r>
              <a:rPr lang="en-US" sz="1200" dirty="0">
                <a:solidFill>
                  <a:srgbClr val="5A6B8C"/>
                </a:solidFill>
                <a:latin typeface="Calibri" pitchFamily="34" charset="0"/>
                <a:ea typeface="Calibri" pitchFamily="34" charset="-122"/>
                <a:cs typeface="Calibri" pitchFamily="34" charset="-120"/>
              </a:rPr>
              <a:t>↓</a:t>
            </a:r>
            <a:endParaRPr lang="en-US" sz="1200" dirty="0"/>
          </a:p>
        </p:txBody>
      </p:sp>
      <p:sp>
        <p:nvSpPr>
          <p:cNvPr id="41" name="Shape 39"/>
          <p:cNvSpPr/>
          <p:nvPr/>
        </p:nvSpPr>
        <p:spPr>
          <a:xfrm>
            <a:off x="9646920" y="4928616"/>
            <a:ext cx="2011680" cy="566928"/>
          </a:xfrm>
          <a:prstGeom prst="roundRect">
            <a:avLst>
              <a:gd name="adj" fmla="val 9677"/>
            </a:avLst>
          </a:prstGeom>
          <a:solidFill>
            <a:srgbClr val="CADCFC"/>
          </a:solidFill>
          <a:ln/>
        </p:spPr>
      </p:sp>
      <p:sp>
        <p:nvSpPr>
          <p:cNvPr id="42" name="Text 40"/>
          <p:cNvSpPr txBox="1"/>
          <p:nvPr/>
        </p:nvSpPr>
        <p:spPr>
          <a:xfrm>
            <a:off x="9646920" y="4928616"/>
            <a:ext cx="2011680" cy="566928"/>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Action +</a:t>
            </a:r>
            <a:endParaRPr lang="en-US" sz="1050" dirty="0"/>
          </a:p>
          <a:p>
            <a:pPr algn="ctr" indent="0" marL="0">
              <a:buNone/>
            </a:pPr>
            <a:r>
              <a:rPr lang="en-US" sz="1050" b="1" dirty="0">
                <a:solidFill>
                  <a:srgbClr val="1E2761"/>
                </a:solidFill>
                <a:latin typeface="Calibri" pitchFamily="34" charset="0"/>
                <a:ea typeface="Calibri" pitchFamily="34" charset="-122"/>
                <a:cs typeface="Calibri" pitchFamily="34" charset="-120"/>
              </a:rPr>
              <a:t>UI Update</a:t>
            </a:r>
            <a:endParaRPr lang="en-US" sz="1050" dirty="0"/>
          </a:p>
        </p:txBody>
      </p:sp>
      <p:sp>
        <p:nvSpPr>
          <p:cNvPr id="43" name="Text 41"/>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8C97AE"/>
                </a:solidFill>
                <a:latin typeface="Calibri" pitchFamily="34" charset="0"/>
                <a:ea typeface="Calibri" pitchFamily="34" charset="-122"/>
                <a:cs typeface="Calibri" pitchFamily="34" charset="-120"/>
              </a:rPr>
              <a:t>SkyAssist — AIONOS Agentic AI Factory · Assignment 3</a:t>
            </a:r>
            <a:endParaRPr lang="en-US" sz="900" dirty="0"/>
          </a:p>
        </p:txBody>
      </p:sp>
      <p:sp>
        <p:nvSpPr>
          <p:cNvPr id="44" name="Text 42"/>
          <p:cNvSpPr txBox="1"/>
          <p:nvPr/>
        </p:nvSpPr>
        <p:spPr>
          <a:xfrm>
            <a:off x="11365992" y="6473952"/>
            <a:ext cx="457200" cy="274320"/>
          </a:xfrm>
          <a:prstGeom prst="rect">
            <a:avLst/>
          </a:prstGeom>
          <a:noFill/>
          <a:ln/>
        </p:spPr>
        <p:txBody>
          <a:bodyPr wrap="square" lIns="0" tIns="0" rIns="0" bIns="0" rtlCol="0" anchor="ctr"/>
          <a:lstStyle/>
          <a:p>
            <a:pPr algn="r" indent="0" marL="0">
              <a:buNone/>
            </a:pPr>
            <a:r>
              <a:rPr lang="en-US" sz="900" dirty="0">
                <a:solidFill>
                  <a:srgbClr val="8C97AE"/>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B"/>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5A6B8C"/>
                </a:solidFill>
                <a:latin typeface="Calibri" pitchFamily="34" charset="0"/>
                <a:ea typeface="Calibri" pitchFamily="34" charset="-122"/>
                <a:cs typeface="Calibri" pitchFamily="34" charset="-120"/>
              </a:rPr>
              <a:t>INPUTS, SOURCES &amp; ASSUMPTIONS</a:t>
            </a:r>
            <a:endParaRPr lang="en-US" sz="1200" dirty="0"/>
          </a:p>
        </p:txBody>
      </p:sp>
      <p:sp>
        <p:nvSpPr>
          <p:cNvPr id="3" name="Text 1"/>
          <p:cNvSpPr txBox="1"/>
          <p:nvPr/>
        </p:nvSpPr>
        <p:spPr>
          <a:xfrm>
            <a:off x="548640" y="621792"/>
            <a:ext cx="109728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Data Pack Adherence — Zero Invented Facts</a:t>
            </a:r>
            <a:endParaRPr lang="en-US" sz="3000" dirty="0"/>
          </a:p>
        </p:txBody>
      </p:sp>
      <p:sp>
        <p:nvSpPr>
          <p:cNvPr id="4" name="Text 2"/>
          <p:cNvSpPr txBox="1"/>
          <p:nvPr/>
        </p:nvSpPr>
        <p:spPr>
          <a:xfrm>
            <a:off x="548640" y="1234440"/>
            <a:ext cx="10972800" cy="274320"/>
          </a:xfrm>
          <a:prstGeom prst="rect">
            <a:avLst/>
          </a:prstGeom>
          <a:noFill/>
          <a:ln/>
        </p:spPr>
        <p:txBody>
          <a:bodyPr wrap="square" lIns="0" tIns="0" rIns="0" bIns="0" rtlCol="0" anchor="ctr"/>
          <a:lstStyle/>
          <a:p>
            <a:pPr indent="0" marL="0">
              <a:buNone/>
            </a:pPr>
            <a:r>
              <a:rPr lang="en-US" sz="1200" i="1" dirty="0">
                <a:solidFill>
                  <a:srgbClr val="5A6B8C"/>
                </a:solidFill>
                <a:latin typeface="Calibri" pitchFamily="34" charset="0"/>
                <a:ea typeface="Calibri" pitchFamily="34" charset="-122"/>
                <a:cs typeface="Calibri" pitchFamily="34" charset="-120"/>
              </a:rPr>
              <a:t>All facts strictly grounded in the Assignment 3 Data Pack · Scenario date fixed: Wed 23 Sep 2026</a:t>
            </a:r>
            <a:endParaRPr lang="en-US" sz="1200" dirty="0"/>
          </a:p>
        </p:txBody>
      </p:sp>
      <p:sp>
        <p:nvSpPr>
          <p:cNvPr id="5" name="Shape 3"/>
          <p:cNvSpPr/>
          <p:nvPr/>
        </p:nvSpPr>
        <p:spPr>
          <a:xfrm>
            <a:off x="548640" y="1645920"/>
            <a:ext cx="5577840" cy="1965960"/>
          </a:xfrm>
          <a:prstGeom prst="roundRect">
            <a:avLst>
              <a:gd name="adj" fmla="val 2791"/>
            </a:avLst>
          </a:prstGeom>
          <a:solidFill>
            <a:srgbClr val="FFFFFF"/>
          </a:solidFill>
          <a:ln w="12700">
            <a:solidFill>
              <a:srgbClr val="DCE2F2"/>
            </a:solidFill>
            <a:prstDash val="solid"/>
          </a:ln>
        </p:spPr>
      </p:sp>
      <p:sp>
        <p:nvSpPr>
          <p:cNvPr id="6" name="Text 4"/>
          <p:cNvSpPr txBox="1"/>
          <p:nvPr/>
        </p:nvSpPr>
        <p:spPr>
          <a:xfrm>
            <a:off x="777240" y="1773936"/>
            <a:ext cx="3657600" cy="256032"/>
          </a:xfrm>
          <a:prstGeom prst="rect">
            <a:avLst/>
          </a:prstGeom>
          <a:noFill/>
          <a:ln/>
        </p:spPr>
        <p:txBody>
          <a:bodyPr wrap="square" lIns="0" tIns="0" rIns="0" bIns="0" rtlCol="0" anchor="ctr"/>
          <a:lstStyle/>
          <a:p>
            <a:pPr indent="0" marL="0">
              <a:buNone/>
            </a:pPr>
            <a:r>
              <a:rPr lang="en-US" sz="1050" b="1" spc="100" kern="0" dirty="0">
                <a:solidFill>
                  <a:srgbClr val="5A6B8C"/>
                </a:solidFill>
                <a:latin typeface="Calibri" pitchFamily="34" charset="0"/>
                <a:ea typeface="Calibri" pitchFamily="34" charset="-122"/>
                <a:cs typeface="Calibri" pitchFamily="34" charset="-120"/>
              </a:rPr>
              <a:t>PASSENGER PROFILES</a:t>
            </a:r>
            <a:endParaRPr lang="en-US" sz="1050" dirty="0"/>
          </a:p>
        </p:txBody>
      </p:sp>
      <p:sp>
        <p:nvSpPr>
          <p:cNvPr id="7" name="Text 5"/>
          <p:cNvSpPr txBox="1"/>
          <p:nvPr/>
        </p:nvSpPr>
        <p:spPr>
          <a:xfrm>
            <a:off x="777240" y="2103120"/>
            <a:ext cx="1737360" cy="320040"/>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Priya Nair</a:t>
            </a:r>
            <a:endParaRPr lang="en-US" sz="1150" dirty="0"/>
          </a:p>
        </p:txBody>
      </p:sp>
      <p:sp>
        <p:nvSpPr>
          <p:cNvPr id="8" name="Text 6"/>
          <p:cNvSpPr txBox="1"/>
          <p:nvPr/>
        </p:nvSpPr>
        <p:spPr>
          <a:xfrm>
            <a:off x="2514600" y="2103120"/>
            <a:ext cx="1554480" cy="320040"/>
          </a:xfrm>
          <a:prstGeom prst="rect">
            <a:avLst/>
          </a:prstGeom>
          <a:noFill/>
          <a:ln/>
        </p:spPr>
        <p:txBody>
          <a:bodyPr wrap="square" lIns="0" tIns="0" rIns="0" bIns="0" rtlCol="0" anchor="ctr"/>
          <a:lstStyle/>
          <a:p>
            <a:pPr indent="0" marL="0">
              <a:buNone/>
            </a:pPr>
            <a:r>
              <a:rPr lang="en-US" sz="1000" dirty="0">
                <a:solidFill>
                  <a:srgbClr val="44507A"/>
                </a:solidFill>
                <a:latin typeface="Calibri" pitchFamily="34" charset="0"/>
                <a:ea typeface="Calibri" pitchFamily="34" charset="-122"/>
                <a:cs typeface="Calibri" pitchFamily="34" charset="-120"/>
              </a:rPr>
              <a:t>Gold · SK4821X</a:t>
            </a:r>
            <a:endParaRPr lang="en-US" sz="1000" dirty="0"/>
          </a:p>
        </p:txBody>
      </p:sp>
      <p:sp>
        <p:nvSpPr>
          <p:cNvPr id="9" name="Text 7"/>
          <p:cNvSpPr txBox="1"/>
          <p:nvPr/>
        </p:nvSpPr>
        <p:spPr>
          <a:xfrm>
            <a:off x="4023360" y="2103120"/>
            <a:ext cx="1920240" cy="320040"/>
          </a:xfrm>
          <a:prstGeom prst="rect">
            <a:avLst/>
          </a:prstGeom>
          <a:noFill/>
          <a:ln/>
        </p:spPr>
        <p:txBody>
          <a:bodyPr wrap="square" lIns="0" tIns="0" rIns="0" bIns="0" rtlCol="0" anchor="ctr"/>
          <a:lstStyle/>
          <a:p>
            <a:pPr indent="0" marL="0">
              <a:buNone/>
            </a:pPr>
            <a:r>
              <a:rPr lang="en-US" sz="950" dirty="0">
                <a:solidFill>
                  <a:srgbClr val="44507A"/>
                </a:solidFill>
                <a:latin typeface="Calibri" pitchFamily="34" charset="0"/>
                <a:ea typeface="Calibri" pitchFamily="34" charset="-122"/>
                <a:cs typeface="Calibri" pitchFamily="34" charset="-120"/>
              </a:rPr>
              <a:t>SK-204 Delhi→Goa</a:t>
            </a:r>
            <a:endParaRPr lang="en-US" sz="950" dirty="0"/>
          </a:p>
        </p:txBody>
      </p:sp>
      <p:sp>
        <p:nvSpPr>
          <p:cNvPr id="10" name="Text 8"/>
          <p:cNvSpPr txBox="1"/>
          <p:nvPr/>
        </p:nvSpPr>
        <p:spPr>
          <a:xfrm>
            <a:off x="777240" y="2606040"/>
            <a:ext cx="1737360" cy="320040"/>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Arvind Kulkarni</a:t>
            </a:r>
            <a:endParaRPr lang="en-US" sz="1150" dirty="0"/>
          </a:p>
        </p:txBody>
      </p:sp>
      <p:sp>
        <p:nvSpPr>
          <p:cNvPr id="11" name="Text 9"/>
          <p:cNvSpPr txBox="1"/>
          <p:nvPr/>
        </p:nvSpPr>
        <p:spPr>
          <a:xfrm>
            <a:off x="2514600" y="2606040"/>
            <a:ext cx="1554480" cy="320040"/>
          </a:xfrm>
          <a:prstGeom prst="rect">
            <a:avLst/>
          </a:prstGeom>
          <a:noFill/>
          <a:ln/>
        </p:spPr>
        <p:txBody>
          <a:bodyPr wrap="square" lIns="0" tIns="0" rIns="0" bIns="0" rtlCol="0" anchor="ctr"/>
          <a:lstStyle/>
          <a:p>
            <a:pPr indent="0" marL="0">
              <a:buNone/>
            </a:pPr>
            <a:r>
              <a:rPr lang="en-US" sz="1000" dirty="0">
                <a:solidFill>
                  <a:srgbClr val="44507A"/>
                </a:solidFill>
                <a:latin typeface="Calibri" pitchFamily="34" charset="0"/>
                <a:ea typeface="Calibri" pitchFamily="34" charset="-122"/>
                <a:cs typeface="Calibri" pitchFamily="34" charset="-120"/>
              </a:rPr>
              <a:t>Silver · TR1190B</a:t>
            </a:r>
            <a:endParaRPr lang="en-US" sz="1000" dirty="0"/>
          </a:p>
        </p:txBody>
      </p:sp>
      <p:sp>
        <p:nvSpPr>
          <p:cNvPr id="12" name="Text 10"/>
          <p:cNvSpPr txBox="1"/>
          <p:nvPr/>
        </p:nvSpPr>
        <p:spPr>
          <a:xfrm>
            <a:off x="4023360" y="2606040"/>
            <a:ext cx="1920240" cy="320040"/>
          </a:xfrm>
          <a:prstGeom prst="rect">
            <a:avLst/>
          </a:prstGeom>
          <a:noFill/>
          <a:ln/>
        </p:spPr>
        <p:txBody>
          <a:bodyPr wrap="square" lIns="0" tIns="0" rIns="0" bIns="0" rtlCol="0" anchor="ctr"/>
          <a:lstStyle/>
          <a:p>
            <a:pPr indent="0" marL="0">
              <a:buNone/>
            </a:pPr>
            <a:r>
              <a:rPr lang="en-US" sz="950" dirty="0">
                <a:solidFill>
                  <a:srgbClr val="44507A"/>
                </a:solidFill>
                <a:latin typeface="Calibri" pitchFamily="34" charset="0"/>
                <a:ea typeface="Calibri" pitchFamily="34" charset="-122"/>
                <a:cs typeface="Calibri" pitchFamily="34" charset="-120"/>
              </a:rPr>
              <a:t>SK-118 Mumbai→Bengaluru</a:t>
            </a:r>
            <a:endParaRPr lang="en-US" sz="950" dirty="0"/>
          </a:p>
        </p:txBody>
      </p:sp>
      <p:sp>
        <p:nvSpPr>
          <p:cNvPr id="13" name="Text 11"/>
          <p:cNvSpPr txBox="1"/>
          <p:nvPr/>
        </p:nvSpPr>
        <p:spPr>
          <a:xfrm>
            <a:off x="777240" y="3108960"/>
            <a:ext cx="1737360" cy="320040"/>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Meher Kaur</a:t>
            </a:r>
            <a:endParaRPr lang="en-US" sz="1150" dirty="0"/>
          </a:p>
        </p:txBody>
      </p:sp>
      <p:sp>
        <p:nvSpPr>
          <p:cNvPr id="14" name="Text 12"/>
          <p:cNvSpPr txBox="1"/>
          <p:nvPr/>
        </p:nvSpPr>
        <p:spPr>
          <a:xfrm>
            <a:off x="2514600" y="3108960"/>
            <a:ext cx="1554480" cy="320040"/>
          </a:xfrm>
          <a:prstGeom prst="rect">
            <a:avLst/>
          </a:prstGeom>
          <a:noFill/>
          <a:ln/>
        </p:spPr>
        <p:txBody>
          <a:bodyPr wrap="square" lIns="0" tIns="0" rIns="0" bIns="0" rtlCol="0" anchor="ctr"/>
          <a:lstStyle/>
          <a:p>
            <a:pPr indent="0" marL="0">
              <a:buNone/>
            </a:pPr>
            <a:r>
              <a:rPr lang="en-US" sz="1000" dirty="0">
                <a:solidFill>
                  <a:srgbClr val="44507A"/>
                </a:solidFill>
                <a:latin typeface="Calibri" pitchFamily="34" charset="0"/>
                <a:ea typeface="Calibri" pitchFamily="34" charset="-122"/>
                <a:cs typeface="Calibri" pitchFamily="34" charset="-120"/>
              </a:rPr>
              <a:t>Platinum · WL7742</a:t>
            </a:r>
            <a:endParaRPr lang="en-US" sz="1000" dirty="0"/>
          </a:p>
        </p:txBody>
      </p:sp>
      <p:sp>
        <p:nvSpPr>
          <p:cNvPr id="15" name="Text 13"/>
          <p:cNvSpPr txBox="1"/>
          <p:nvPr/>
        </p:nvSpPr>
        <p:spPr>
          <a:xfrm>
            <a:off x="4023360" y="3108960"/>
            <a:ext cx="1920240" cy="320040"/>
          </a:xfrm>
          <a:prstGeom prst="rect">
            <a:avLst/>
          </a:prstGeom>
          <a:noFill/>
          <a:ln/>
        </p:spPr>
        <p:txBody>
          <a:bodyPr wrap="square" lIns="0" tIns="0" rIns="0" bIns="0" rtlCol="0" anchor="ctr"/>
          <a:lstStyle/>
          <a:p>
            <a:pPr indent="0" marL="0">
              <a:buNone/>
            </a:pPr>
            <a:r>
              <a:rPr lang="en-US" sz="950" dirty="0">
                <a:solidFill>
                  <a:srgbClr val="44507A"/>
                </a:solidFill>
                <a:latin typeface="Calibri" pitchFamily="34" charset="0"/>
                <a:ea typeface="Calibri" pitchFamily="34" charset="-122"/>
                <a:cs typeface="Calibri" pitchFamily="34" charset="-120"/>
              </a:rPr>
              <a:t>SK-305 Delhi→Hyderabad</a:t>
            </a:r>
            <a:endParaRPr lang="en-US" sz="950" dirty="0"/>
          </a:p>
        </p:txBody>
      </p:sp>
      <p:sp>
        <p:nvSpPr>
          <p:cNvPr id="16" name="Shape 14"/>
          <p:cNvSpPr/>
          <p:nvPr/>
        </p:nvSpPr>
        <p:spPr>
          <a:xfrm>
            <a:off x="6309360" y="1645920"/>
            <a:ext cx="5349240" cy="1965960"/>
          </a:xfrm>
          <a:prstGeom prst="roundRect">
            <a:avLst>
              <a:gd name="adj" fmla="val 2791"/>
            </a:avLst>
          </a:prstGeom>
          <a:solidFill>
            <a:srgbClr val="1E2761"/>
          </a:solidFill>
          <a:ln/>
        </p:spPr>
      </p:sp>
      <p:sp>
        <p:nvSpPr>
          <p:cNvPr id="17" name="Text 15"/>
          <p:cNvSpPr txBox="1"/>
          <p:nvPr/>
        </p:nvSpPr>
        <p:spPr>
          <a:xfrm>
            <a:off x="6537960" y="1773936"/>
            <a:ext cx="4572000" cy="256032"/>
          </a:xfrm>
          <a:prstGeom prst="rect">
            <a:avLst/>
          </a:prstGeom>
          <a:noFill/>
          <a:ln/>
        </p:spPr>
        <p:txBody>
          <a:bodyPr wrap="square" lIns="0" tIns="0" rIns="0" bIns="0" rtlCol="0" anchor="ctr"/>
          <a:lstStyle/>
          <a:p>
            <a:pPr indent="0" marL="0">
              <a:buNone/>
            </a:pPr>
            <a:r>
              <a:rPr lang="en-US" sz="1050" b="1" spc="100" kern="0" dirty="0">
                <a:solidFill>
                  <a:srgbClr val="F2A93B"/>
                </a:solidFill>
                <a:latin typeface="Calibri" pitchFamily="34" charset="0"/>
                <a:ea typeface="Calibri" pitchFamily="34" charset="-122"/>
                <a:cs typeface="Calibri" pitchFamily="34" charset="-120"/>
              </a:rPr>
              <a:t>DELAY COMPENSATION LADDER</a:t>
            </a:r>
            <a:endParaRPr lang="en-US" sz="1050" dirty="0"/>
          </a:p>
        </p:txBody>
      </p:sp>
      <p:sp>
        <p:nvSpPr>
          <p:cNvPr id="18" name="Text 16"/>
          <p:cNvSpPr txBox="1"/>
          <p:nvPr/>
        </p:nvSpPr>
        <p:spPr>
          <a:xfrm>
            <a:off x="6537960" y="2103120"/>
            <a:ext cx="822960"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&lt; 3h</a:t>
            </a:r>
            <a:endParaRPr lang="en-US" sz="1100" dirty="0"/>
          </a:p>
        </p:txBody>
      </p:sp>
      <p:sp>
        <p:nvSpPr>
          <p:cNvPr id="19" name="Text 17"/>
          <p:cNvSpPr txBox="1"/>
          <p:nvPr/>
        </p:nvSpPr>
        <p:spPr>
          <a:xfrm>
            <a:off x="7406640" y="2103120"/>
            <a:ext cx="4114800" cy="32004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₹500 meal voucher</a:t>
            </a:r>
            <a:endParaRPr lang="en-US" sz="1050" dirty="0"/>
          </a:p>
        </p:txBody>
      </p:sp>
      <p:sp>
        <p:nvSpPr>
          <p:cNvPr id="20" name="Text 18"/>
          <p:cNvSpPr txBox="1"/>
          <p:nvPr/>
        </p:nvSpPr>
        <p:spPr>
          <a:xfrm>
            <a:off x="6537960" y="2606040"/>
            <a:ext cx="822960"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3–5h</a:t>
            </a:r>
            <a:endParaRPr lang="en-US" sz="1100" dirty="0"/>
          </a:p>
        </p:txBody>
      </p:sp>
      <p:sp>
        <p:nvSpPr>
          <p:cNvPr id="21" name="Text 19"/>
          <p:cNvSpPr txBox="1"/>
          <p:nvPr/>
        </p:nvSpPr>
        <p:spPr>
          <a:xfrm>
            <a:off x="7406640" y="2606040"/>
            <a:ext cx="4114800" cy="32004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Meal voucher + lounge access</a:t>
            </a:r>
            <a:endParaRPr lang="en-US" sz="1050" dirty="0"/>
          </a:p>
        </p:txBody>
      </p:sp>
      <p:sp>
        <p:nvSpPr>
          <p:cNvPr id="22" name="Text 20"/>
          <p:cNvSpPr txBox="1"/>
          <p:nvPr/>
        </p:nvSpPr>
        <p:spPr>
          <a:xfrm>
            <a:off x="6537960" y="3108960"/>
            <a:ext cx="822960"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5h+</a:t>
            </a:r>
            <a:endParaRPr lang="en-US" sz="1100" dirty="0"/>
          </a:p>
        </p:txBody>
      </p:sp>
      <p:sp>
        <p:nvSpPr>
          <p:cNvPr id="23" name="Text 21"/>
          <p:cNvSpPr txBox="1"/>
          <p:nvPr/>
        </p:nvSpPr>
        <p:spPr>
          <a:xfrm>
            <a:off x="7406640" y="3108960"/>
            <a:ext cx="4114800" cy="32004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Meal voucher + hotel (delayed hours only)</a:t>
            </a:r>
            <a:endParaRPr lang="en-US" sz="1050" dirty="0"/>
          </a:p>
        </p:txBody>
      </p:sp>
      <p:sp>
        <p:nvSpPr>
          <p:cNvPr id="24" name="Shape 22"/>
          <p:cNvSpPr/>
          <p:nvPr/>
        </p:nvSpPr>
        <p:spPr>
          <a:xfrm>
            <a:off x="548640" y="3794760"/>
            <a:ext cx="11109960" cy="2103120"/>
          </a:xfrm>
          <a:prstGeom prst="roundRect">
            <a:avLst>
              <a:gd name="adj" fmla="val 2609"/>
            </a:avLst>
          </a:prstGeom>
          <a:solidFill>
            <a:srgbClr val="FFFFFF"/>
          </a:solidFill>
          <a:ln w="12700">
            <a:solidFill>
              <a:srgbClr val="DCE2F2"/>
            </a:solidFill>
            <a:prstDash val="solid"/>
          </a:ln>
        </p:spPr>
      </p:sp>
      <p:sp>
        <p:nvSpPr>
          <p:cNvPr id="25" name="Text 23"/>
          <p:cNvSpPr txBox="1"/>
          <p:nvPr/>
        </p:nvSpPr>
        <p:spPr>
          <a:xfrm>
            <a:off x="777240" y="3931920"/>
            <a:ext cx="3657600" cy="256032"/>
          </a:xfrm>
          <a:prstGeom prst="rect">
            <a:avLst/>
          </a:prstGeom>
          <a:noFill/>
          <a:ln/>
        </p:spPr>
        <p:txBody>
          <a:bodyPr wrap="square" lIns="0" tIns="0" rIns="0" bIns="0" rtlCol="0" anchor="ctr"/>
          <a:lstStyle/>
          <a:p>
            <a:pPr indent="0" marL="0">
              <a:buNone/>
            </a:pPr>
            <a:r>
              <a:rPr lang="en-US" sz="1050" b="1" spc="100" kern="0" dirty="0">
                <a:solidFill>
                  <a:srgbClr val="5A6B8C"/>
                </a:solidFill>
                <a:latin typeface="Calibri" pitchFamily="34" charset="0"/>
                <a:ea typeface="Calibri" pitchFamily="34" charset="-122"/>
                <a:cs typeface="Calibri" pitchFamily="34" charset="-120"/>
              </a:rPr>
              <a:t>CORE POLICY RULES</a:t>
            </a:r>
            <a:endParaRPr lang="en-US" sz="1050" dirty="0"/>
          </a:p>
        </p:txBody>
      </p:sp>
      <p:sp>
        <p:nvSpPr>
          <p:cNvPr id="26" name="Shape 24"/>
          <p:cNvSpPr/>
          <p:nvPr/>
        </p:nvSpPr>
        <p:spPr>
          <a:xfrm>
            <a:off x="822960" y="4334256"/>
            <a:ext cx="109728" cy="109728"/>
          </a:xfrm>
          <a:prstGeom prst="roundRect">
            <a:avLst>
              <a:gd name="adj" fmla="val 50000"/>
            </a:avLst>
          </a:prstGeom>
          <a:solidFill>
            <a:srgbClr val="F2A93B"/>
          </a:solidFill>
          <a:ln/>
        </p:spPr>
      </p:sp>
      <p:sp>
        <p:nvSpPr>
          <p:cNvPr id="27" name="Text 25"/>
          <p:cNvSpPr txBox="1"/>
          <p:nvPr/>
        </p:nvSpPr>
        <p:spPr>
          <a:xfrm>
            <a:off x="1051560" y="4224528"/>
            <a:ext cx="10424160" cy="320040"/>
          </a:xfrm>
          <a:prstGeom prst="rect">
            <a:avLst/>
          </a:prstGeom>
          <a:noFill/>
          <a:ln/>
        </p:spPr>
        <p:txBody>
          <a:bodyPr wrap="square" lIns="0" tIns="0" rIns="0" bIns="0" rtlCol="0" anchor="ctr"/>
          <a:lstStyle/>
          <a:p>
            <a:pPr indent="0" marL="0">
              <a:buNone/>
            </a:pPr>
            <a:r>
              <a:rPr lang="en-US" sz="1150" dirty="0">
                <a:solidFill>
                  <a:srgbClr val="2C3560"/>
                </a:solidFill>
                <a:latin typeface="Calibri" pitchFamily="34" charset="0"/>
                <a:ea typeface="Calibri" pitchFamily="34" charset="-122"/>
                <a:cs typeface="Calibri" pitchFamily="34" charset="-120"/>
              </a:rPr>
              <a:t>Cancellation → free rebooking within 24h OR full refund to original payment method (7 business days)</a:t>
            </a:r>
            <a:endParaRPr lang="en-US" sz="1150" dirty="0"/>
          </a:p>
        </p:txBody>
      </p:sp>
      <p:sp>
        <p:nvSpPr>
          <p:cNvPr id="28" name="Shape 26"/>
          <p:cNvSpPr/>
          <p:nvPr/>
        </p:nvSpPr>
        <p:spPr>
          <a:xfrm>
            <a:off x="822960" y="4718304"/>
            <a:ext cx="109728" cy="109728"/>
          </a:xfrm>
          <a:prstGeom prst="roundRect">
            <a:avLst>
              <a:gd name="adj" fmla="val 50000"/>
            </a:avLst>
          </a:prstGeom>
          <a:solidFill>
            <a:srgbClr val="F2A93B"/>
          </a:solidFill>
          <a:ln/>
        </p:spPr>
      </p:sp>
      <p:sp>
        <p:nvSpPr>
          <p:cNvPr id="29" name="Text 27"/>
          <p:cNvSpPr txBox="1"/>
          <p:nvPr/>
        </p:nvSpPr>
        <p:spPr>
          <a:xfrm>
            <a:off x="1051560" y="4608576"/>
            <a:ext cx="10424160" cy="320040"/>
          </a:xfrm>
          <a:prstGeom prst="rect">
            <a:avLst/>
          </a:prstGeom>
          <a:noFill/>
          <a:ln/>
        </p:spPr>
        <p:txBody>
          <a:bodyPr wrap="square" lIns="0" tIns="0" rIns="0" bIns="0" rtlCol="0" anchor="ctr"/>
          <a:lstStyle/>
          <a:p>
            <a:pPr indent="0" marL="0">
              <a:buNone/>
            </a:pPr>
            <a:r>
              <a:rPr lang="en-US" sz="1150" dirty="0">
                <a:solidFill>
                  <a:srgbClr val="2C3560"/>
                </a:solidFill>
                <a:latin typeface="Calibri" pitchFamily="34" charset="0"/>
                <a:ea typeface="Calibri" pitchFamily="34" charset="-122"/>
                <a:cs typeface="Calibri" pitchFamily="34" charset="-120"/>
              </a:rPr>
              <a:t>Fare difference waiver capped at ₹1,500 — above this, mandatory supervisor approval</a:t>
            </a:r>
            <a:endParaRPr lang="en-US" sz="1150" dirty="0"/>
          </a:p>
        </p:txBody>
      </p:sp>
      <p:sp>
        <p:nvSpPr>
          <p:cNvPr id="30" name="Shape 28"/>
          <p:cNvSpPr/>
          <p:nvPr/>
        </p:nvSpPr>
        <p:spPr>
          <a:xfrm>
            <a:off x="822960" y="5102352"/>
            <a:ext cx="109728" cy="109728"/>
          </a:xfrm>
          <a:prstGeom prst="roundRect">
            <a:avLst>
              <a:gd name="adj" fmla="val 50000"/>
            </a:avLst>
          </a:prstGeom>
          <a:solidFill>
            <a:srgbClr val="F2A93B"/>
          </a:solidFill>
          <a:ln/>
        </p:spPr>
      </p:sp>
      <p:sp>
        <p:nvSpPr>
          <p:cNvPr id="31" name="Text 29"/>
          <p:cNvSpPr txBox="1"/>
          <p:nvPr/>
        </p:nvSpPr>
        <p:spPr>
          <a:xfrm>
            <a:off x="1051560" y="4992624"/>
            <a:ext cx="10424160" cy="320040"/>
          </a:xfrm>
          <a:prstGeom prst="rect">
            <a:avLst/>
          </a:prstGeom>
          <a:noFill/>
          <a:ln/>
        </p:spPr>
        <p:txBody>
          <a:bodyPr wrap="square" lIns="0" tIns="0" rIns="0" bIns="0" rtlCol="0" anchor="ctr"/>
          <a:lstStyle/>
          <a:p>
            <a:pPr indent="0" marL="0">
              <a:buNone/>
            </a:pPr>
            <a:r>
              <a:rPr lang="en-US" sz="1150" dirty="0">
                <a:solidFill>
                  <a:srgbClr val="2C3560"/>
                </a:solidFill>
                <a:latin typeface="Calibri" pitchFamily="34" charset="0"/>
                <a:ea typeface="Calibri" pitchFamily="34" charset="-122"/>
                <a:cs typeface="Calibri" pitchFamily="34" charset="-120"/>
              </a:rPr>
              <a:t>Gold/Platinum → priority rebooking only, no extra compensation beyond standard policy</a:t>
            </a:r>
            <a:endParaRPr lang="en-US" sz="1150" dirty="0"/>
          </a:p>
        </p:txBody>
      </p:sp>
      <p:sp>
        <p:nvSpPr>
          <p:cNvPr id="32" name="Shape 30"/>
          <p:cNvSpPr/>
          <p:nvPr/>
        </p:nvSpPr>
        <p:spPr>
          <a:xfrm>
            <a:off x="822960" y="5486400"/>
            <a:ext cx="109728" cy="109728"/>
          </a:xfrm>
          <a:prstGeom prst="roundRect">
            <a:avLst>
              <a:gd name="adj" fmla="val 50000"/>
            </a:avLst>
          </a:prstGeom>
          <a:solidFill>
            <a:srgbClr val="F2A93B"/>
          </a:solidFill>
          <a:ln/>
        </p:spPr>
      </p:sp>
      <p:sp>
        <p:nvSpPr>
          <p:cNvPr id="33" name="Text 31"/>
          <p:cNvSpPr txBox="1"/>
          <p:nvPr/>
        </p:nvSpPr>
        <p:spPr>
          <a:xfrm>
            <a:off x="1051560" y="5376672"/>
            <a:ext cx="10424160" cy="320040"/>
          </a:xfrm>
          <a:prstGeom prst="rect">
            <a:avLst/>
          </a:prstGeom>
          <a:noFill/>
          <a:ln/>
        </p:spPr>
        <p:txBody>
          <a:bodyPr wrap="square" lIns="0" tIns="0" rIns="0" bIns="0" rtlCol="0" anchor="ctr"/>
          <a:lstStyle/>
          <a:p>
            <a:pPr indent="0" marL="0">
              <a:buNone/>
            </a:pPr>
            <a:r>
              <a:rPr lang="en-US" sz="1150" dirty="0">
                <a:solidFill>
                  <a:srgbClr val="2C3560"/>
                </a:solidFill>
                <a:latin typeface="Calibri" pitchFamily="34" charset="0"/>
                <a:ea typeface="Calibri" pitchFamily="34" charset="-122"/>
                <a:cs typeface="Calibri" pitchFamily="34" charset="-120"/>
              </a:rPr>
              <a:t>Legal threats / formal complaints → immediate mandatory escalation to human specialists</a:t>
            </a:r>
            <a:endParaRPr lang="en-US" sz="1150" dirty="0"/>
          </a:p>
        </p:txBody>
      </p:sp>
      <p:sp>
        <p:nvSpPr>
          <p:cNvPr id="34" name="Text 32"/>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8C97AE"/>
                </a:solidFill>
                <a:latin typeface="Calibri" pitchFamily="34" charset="0"/>
                <a:ea typeface="Calibri" pitchFamily="34" charset="-122"/>
                <a:cs typeface="Calibri" pitchFamily="34" charset="-120"/>
              </a:rPr>
              <a:t>SkyAssist — AIONOS Agentic AI Factory · Assignment 3</a:t>
            </a:r>
            <a:endParaRPr lang="en-US" sz="900" dirty="0"/>
          </a:p>
        </p:txBody>
      </p:sp>
      <p:sp>
        <p:nvSpPr>
          <p:cNvPr id="35" name="Text 33"/>
          <p:cNvSpPr txBox="1"/>
          <p:nvPr/>
        </p:nvSpPr>
        <p:spPr>
          <a:xfrm>
            <a:off x="11365992" y="6473952"/>
            <a:ext cx="457200" cy="274320"/>
          </a:xfrm>
          <a:prstGeom prst="rect">
            <a:avLst/>
          </a:prstGeom>
          <a:noFill/>
          <a:ln/>
        </p:spPr>
        <p:txBody>
          <a:bodyPr wrap="square" lIns="0" tIns="0" rIns="0" bIns="0" rtlCol="0" anchor="ctr"/>
          <a:lstStyle/>
          <a:p>
            <a:pPr algn="r" indent="0" marL="0">
              <a:buNone/>
            </a:pPr>
            <a:r>
              <a:rPr lang="en-US" sz="900" dirty="0">
                <a:solidFill>
                  <a:srgbClr val="8C97AE"/>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B"/>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5A6B8C"/>
                </a:solidFill>
                <a:latin typeface="Calibri" pitchFamily="34" charset="0"/>
                <a:ea typeface="Calibri" pitchFamily="34" charset="-122"/>
                <a:cs typeface="Calibri" pitchFamily="34" charset="-120"/>
              </a:rPr>
              <a:t>SCENARIO 1 RESOLUTION</a:t>
            </a:r>
            <a:endParaRPr lang="en-US" sz="1200" dirty="0"/>
          </a:p>
        </p:txBody>
      </p:sp>
      <p:sp>
        <p:nvSpPr>
          <p:cNvPr id="3" name="Text 1"/>
          <p:cNvSpPr txBox="1"/>
          <p:nvPr/>
        </p:nvSpPr>
        <p:spPr>
          <a:xfrm>
            <a:off x="548640" y="621792"/>
            <a:ext cx="109728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Priya Nair — Flight Cancellation</a:t>
            </a:r>
            <a:endParaRPr lang="en-US" sz="3000" dirty="0"/>
          </a:p>
        </p:txBody>
      </p:sp>
      <p:sp>
        <p:nvSpPr>
          <p:cNvPr id="4" name="Shape 2"/>
          <p:cNvSpPr/>
          <p:nvPr/>
        </p:nvSpPr>
        <p:spPr>
          <a:xfrm>
            <a:off x="548640" y="1417320"/>
            <a:ext cx="1554480" cy="310896"/>
          </a:xfrm>
          <a:prstGeom prst="roundRect">
            <a:avLst>
              <a:gd name="adj" fmla="val 23529"/>
            </a:avLst>
          </a:prstGeom>
          <a:solidFill>
            <a:srgbClr val="1E2761"/>
          </a:solidFill>
          <a:ln/>
        </p:spPr>
      </p:sp>
      <p:sp>
        <p:nvSpPr>
          <p:cNvPr id="5" name="Text 3"/>
          <p:cNvSpPr txBox="1"/>
          <p:nvPr/>
        </p:nvSpPr>
        <p:spPr>
          <a:xfrm>
            <a:off x="548640" y="1417320"/>
            <a:ext cx="155448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GOLD TIER</a:t>
            </a:r>
            <a:endParaRPr lang="en-US" sz="1100" dirty="0"/>
          </a:p>
        </p:txBody>
      </p:sp>
      <p:sp>
        <p:nvSpPr>
          <p:cNvPr id="6" name="Shape 4"/>
          <p:cNvSpPr/>
          <p:nvPr/>
        </p:nvSpPr>
        <p:spPr>
          <a:xfrm>
            <a:off x="2240280" y="1417320"/>
            <a:ext cx="1645920" cy="310896"/>
          </a:xfrm>
          <a:prstGeom prst="roundRect">
            <a:avLst>
              <a:gd name="adj" fmla="val 23529"/>
            </a:avLst>
          </a:prstGeom>
          <a:solidFill>
            <a:srgbClr val="5A6B8C"/>
          </a:solidFill>
          <a:ln/>
        </p:spPr>
      </p:sp>
      <p:sp>
        <p:nvSpPr>
          <p:cNvPr id="7" name="Text 5"/>
          <p:cNvSpPr txBox="1"/>
          <p:nvPr/>
        </p:nvSpPr>
        <p:spPr>
          <a:xfrm>
            <a:off x="2240280" y="1417320"/>
            <a:ext cx="164592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PNR SK4821X</a:t>
            </a:r>
            <a:endParaRPr lang="en-US" sz="1100" dirty="0"/>
          </a:p>
        </p:txBody>
      </p:sp>
      <p:sp>
        <p:nvSpPr>
          <p:cNvPr id="8" name="Shape 6"/>
          <p:cNvSpPr/>
          <p:nvPr/>
        </p:nvSpPr>
        <p:spPr>
          <a:xfrm>
            <a:off x="4023360" y="1417320"/>
            <a:ext cx="2103120" cy="310896"/>
          </a:xfrm>
          <a:prstGeom prst="roundRect">
            <a:avLst>
              <a:gd name="adj" fmla="val 23529"/>
            </a:avLst>
          </a:prstGeom>
          <a:solidFill>
            <a:srgbClr val="2FA97E"/>
          </a:solidFill>
          <a:ln/>
        </p:spPr>
      </p:sp>
      <p:sp>
        <p:nvSpPr>
          <p:cNvPr id="9" name="Text 7"/>
          <p:cNvSpPr txBox="1"/>
          <p:nvPr/>
        </p:nvSpPr>
        <p:spPr>
          <a:xfrm>
            <a:off x="4023360" y="1417320"/>
            <a:ext cx="210312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REFUND ISSUED</a:t>
            </a:r>
            <a:endParaRPr lang="en-US" sz="1100" dirty="0"/>
          </a:p>
        </p:txBody>
      </p:sp>
      <p:sp>
        <p:nvSpPr>
          <p:cNvPr id="10" name="Text 8"/>
          <p:cNvSpPr txBox="1"/>
          <p:nvPr/>
        </p:nvSpPr>
        <p:spPr>
          <a:xfrm>
            <a:off x="548640" y="1874520"/>
            <a:ext cx="7315200" cy="320040"/>
          </a:xfrm>
          <a:prstGeom prst="rect">
            <a:avLst/>
          </a:prstGeom>
          <a:noFill/>
          <a:ln/>
        </p:spPr>
        <p:txBody>
          <a:bodyPr wrap="square" lIns="0" tIns="0" rIns="0" bIns="0" rtlCol="0" anchor="ctr"/>
          <a:lstStyle/>
          <a:p>
            <a:pPr indent="0" marL="0">
              <a:buNone/>
            </a:pPr>
            <a:r>
              <a:rPr lang="en-US" sz="1250" dirty="0">
                <a:solidFill>
                  <a:srgbClr val="44507A"/>
                </a:solidFill>
                <a:latin typeface="Calibri" pitchFamily="34" charset="0"/>
                <a:ea typeface="Calibri" pitchFamily="34" charset="-122"/>
                <a:cs typeface="Calibri" pitchFamily="34" charset="-120"/>
              </a:rPr>
              <a:t>SK-204 · Delhi → Goa · Cancelled (Return SK-204R unaffected)</a:t>
            </a:r>
            <a:endParaRPr lang="en-US" sz="1250" dirty="0"/>
          </a:p>
        </p:txBody>
      </p:sp>
      <p:sp>
        <p:nvSpPr>
          <p:cNvPr id="11" name="Shape 9"/>
          <p:cNvSpPr/>
          <p:nvPr/>
        </p:nvSpPr>
        <p:spPr>
          <a:xfrm>
            <a:off x="548640" y="2377440"/>
            <a:ext cx="5349240" cy="3520440"/>
          </a:xfrm>
          <a:prstGeom prst="roundRect">
            <a:avLst>
              <a:gd name="adj" fmla="val 2078"/>
            </a:avLst>
          </a:prstGeom>
          <a:solidFill>
            <a:srgbClr val="FFFFFF"/>
          </a:solidFill>
          <a:ln w="12700">
            <a:solidFill>
              <a:srgbClr val="DCE2F2"/>
            </a:solidFill>
            <a:prstDash val="solid"/>
          </a:ln>
        </p:spPr>
      </p:sp>
      <p:sp>
        <p:nvSpPr>
          <p:cNvPr id="12" name="Text 10"/>
          <p:cNvSpPr txBox="1"/>
          <p:nvPr/>
        </p:nvSpPr>
        <p:spPr>
          <a:xfrm>
            <a:off x="822960" y="2578608"/>
            <a:ext cx="3657600" cy="274320"/>
          </a:xfrm>
          <a:prstGeom prst="rect">
            <a:avLst/>
          </a:prstGeom>
          <a:noFill/>
          <a:ln/>
        </p:spPr>
        <p:txBody>
          <a:bodyPr wrap="square" lIns="0" tIns="0" rIns="0" bIns="0" rtlCol="0" anchor="ctr"/>
          <a:lstStyle/>
          <a:p>
            <a:pPr indent="0" marL="0">
              <a:buNone/>
            </a:pPr>
            <a:r>
              <a:rPr lang="en-US" sz="1050" b="1" spc="100" kern="0" dirty="0">
                <a:solidFill>
                  <a:srgbClr val="E14B4B"/>
                </a:solidFill>
                <a:latin typeface="Calibri" pitchFamily="34" charset="0"/>
                <a:ea typeface="Calibri" pitchFamily="34" charset="-122"/>
                <a:cs typeface="Calibri" pitchFamily="34" charset="-120"/>
              </a:rPr>
              <a:t>PASSENGER CONFLICT</a:t>
            </a:r>
            <a:endParaRPr lang="en-US" sz="1050" dirty="0"/>
          </a:p>
        </p:txBody>
      </p:sp>
      <p:sp>
        <p:nvSpPr>
          <p:cNvPr id="13" name="Text 11"/>
          <p:cNvSpPr txBox="1"/>
          <p:nvPr/>
        </p:nvSpPr>
        <p:spPr>
          <a:xfrm>
            <a:off x="822960" y="2926080"/>
            <a:ext cx="4800600" cy="2834640"/>
          </a:xfrm>
          <a:prstGeom prst="rect">
            <a:avLst/>
          </a:prstGeom>
          <a:noFill/>
          <a:ln/>
        </p:spPr>
        <p:txBody>
          <a:bodyPr wrap="square" lIns="0" tIns="0" rIns="0" bIns="0" rtlCol="0" anchor="t"/>
          <a:lstStyle/>
          <a:p>
            <a:pPr indent="0" marL="0">
              <a:lnSpc>
                <a:spcPct val="130000"/>
              </a:lnSpc>
              <a:buNone/>
            </a:pPr>
            <a:r>
              <a:rPr lang="en-US" sz="1300" dirty="0">
                <a:solidFill>
                  <a:srgbClr val="2C3560"/>
                </a:solidFill>
                <a:latin typeface="Calibri" pitchFamily="34" charset="0"/>
                <a:ea typeface="Calibri" pitchFamily="34" charset="-122"/>
                <a:cs typeface="Calibri" pitchFamily="34" charset="-120"/>
              </a:rPr>
              <a:t>Priya is furious and demands:</a:t>
            </a:r>
            <a:endParaRPr lang="en-US" sz="1300" dirty="0"/>
          </a:p>
          <a:p>
            <a:pPr indent="0" marL="0">
              <a:lnSpc>
                <a:spcPct val="130000"/>
              </a:lnSpc>
              <a:buNone/>
            </a:pPr>
            <a:endParaRPr lang="en-US" sz="1300" dirty="0"/>
          </a:p>
          <a:p>
            <a:pPr indent="0" marL="0">
              <a:lnSpc>
                <a:spcPct val="130000"/>
              </a:lnSpc>
              <a:buNone/>
            </a:pPr>
            <a:r>
              <a:rPr lang="en-US" sz="1300" dirty="0">
                <a:solidFill>
                  <a:srgbClr val="2C3560"/>
                </a:solidFill>
                <a:latin typeface="Calibri" pitchFamily="34" charset="0"/>
                <a:ea typeface="Calibri" pitchFamily="34" charset="-122"/>
                <a:cs typeface="Calibri" pitchFamily="34" charset="-120"/>
              </a:rPr>
              <a:t>1. A full cash refund for the disrupted sector.</a:t>
            </a:r>
            <a:endParaRPr lang="en-US" sz="1300" dirty="0"/>
          </a:p>
          <a:p>
            <a:pPr indent="0" marL="0">
              <a:lnSpc>
                <a:spcPct val="130000"/>
              </a:lnSpc>
              <a:buNone/>
            </a:pPr>
            <a:endParaRPr lang="en-US" sz="1300" dirty="0"/>
          </a:p>
          <a:p>
            <a:pPr indent="0" marL="0">
              <a:lnSpc>
                <a:spcPct val="130000"/>
              </a:lnSpc>
              <a:buNone/>
            </a:pPr>
            <a:r>
              <a:rPr lang="en-US" sz="1300" dirty="0">
                <a:solidFill>
                  <a:srgbClr val="2C3560"/>
                </a:solidFill>
                <a:latin typeface="Calibri" pitchFamily="34" charset="0"/>
                <a:ea typeface="Calibri" pitchFamily="34" charset="-122"/>
                <a:cs typeface="Calibri" pitchFamily="34" charset="-120"/>
              </a:rPr>
              <a:t>2. A free Business Class upgrade on her return flight "for the trouble."</a:t>
            </a:r>
            <a:endParaRPr lang="en-US" sz="1300" dirty="0"/>
          </a:p>
          <a:p>
            <a:pPr indent="0" marL="0">
              <a:lnSpc>
                <a:spcPct val="130000"/>
              </a:lnSpc>
              <a:buNone/>
            </a:pPr>
            <a:endParaRPr lang="en-US" sz="1300" dirty="0"/>
          </a:p>
          <a:p>
            <a:pPr indent="0" marL="0">
              <a:lnSpc>
                <a:spcPct val="130000"/>
              </a:lnSpc>
              <a:buNone/>
            </a:pPr>
            <a:r>
              <a:rPr lang="en-US" sz="1300" dirty="0">
                <a:solidFill>
                  <a:srgbClr val="2C3560"/>
                </a:solidFill>
                <a:latin typeface="Calibri" pitchFamily="34" charset="0"/>
                <a:ea typeface="Calibri" pitchFamily="34" charset="-122"/>
                <a:cs typeface="Calibri" pitchFamily="34" charset="-120"/>
              </a:rPr>
              <a:t>The agent must validate her anger while holding firm policy boundaries.</a:t>
            </a:r>
            <a:endParaRPr lang="en-US" sz="1300" dirty="0"/>
          </a:p>
        </p:txBody>
      </p:sp>
      <p:sp>
        <p:nvSpPr>
          <p:cNvPr id="14" name="Shape 12"/>
          <p:cNvSpPr/>
          <p:nvPr/>
        </p:nvSpPr>
        <p:spPr>
          <a:xfrm>
            <a:off x="6080760" y="2377440"/>
            <a:ext cx="5532120" cy="3520440"/>
          </a:xfrm>
          <a:prstGeom prst="roundRect">
            <a:avLst>
              <a:gd name="adj" fmla="val 2078"/>
            </a:avLst>
          </a:prstGeom>
          <a:solidFill>
            <a:srgbClr val="1E2761"/>
          </a:solidFill>
          <a:ln/>
        </p:spPr>
      </p:sp>
      <p:sp>
        <p:nvSpPr>
          <p:cNvPr id="15" name="Text 13"/>
          <p:cNvSpPr txBox="1"/>
          <p:nvPr/>
        </p:nvSpPr>
        <p:spPr>
          <a:xfrm>
            <a:off x="6355080" y="2578608"/>
            <a:ext cx="4114800" cy="274320"/>
          </a:xfrm>
          <a:prstGeom prst="rect">
            <a:avLst/>
          </a:prstGeom>
          <a:noFill/>
          <a:ln/>
        </p:spPr>
        <p:txBody>
          <a:bodyPr wrap="square" lIns="0" tIns="0" rIns="0" bIns="0" rtlCol="0" anchor="ctr"/>
          <a:lstStyle/>
          <a:p>
            <a:pPr indent="0" marL="0">
              <a:buNone/>
            </a:pPr>
            <a:r>
              <a:rPr lang="en-US" sz="1050" b="1" spc="100" kern="0" dirty="0">
                <a:solidFill>
                  <a:srgbClr val="F2A93B"/>
                </a:solidFill>
                <a:latin typeface="Calibri" pitchFamily="34" charset="0"/>
                <a:ea typeface="Calibri" pitchFamily="34" charset="-122"/>
                <a:cs typeface="Calibri" pitchFamily="34" charset="-120"/>
              </a:rPr>
              <a:t>AGENT POLICY EXECUTION</a:t>
            </a:r>
            <a:endParaRPr lang="en-US" sz="1050" dirty="0"/>
          </a:p>
        </p:txBody>
      </p:sp>
      <p:sp>
        <p:nvSpPr>
          <p:cNvPr id="16" name="Shape 14"/>
          <p:cNvSpPr/>
          <p:nvPr/>
        </p:nvSpPr>
        <p:spPr>
          <a:xfrm>
            <a:off x="6355080" y="2971800"/>
            <a:ext cx="256032" cy="256032"/>
          </a:xfrm>
          <a:prstGeom prst="roundRect">
            <a:avLst>
              <a:gd name="adj" fmla="val 50000"/>
            </a:avLst>
          </a:prstGeom>
          <a:solidFill>
            <a:srgbClr val="2FA97E"/>
          </a:solidFill>
          <a:ln/>
        </p:spPr>
      </p:sp>
      <p:sp>
        <p:nvSpPr>
          <p:cNvPr id="17" name="Text 15"/>
          <p:cNvSpPr txBox="1"/>
          <p:nvPr/>
        </p:nvSpPr>
        <p:spPr>
          <a:xfrm>
            <a:off x="6355080" y="2971800"/>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8" name="Text 16"/>
          <p:cNvSpPr txBox="1"/>
          <p:nvPr/>
        </p:nvSpPr>
        <p:spPr>
          <a:xfrm>
            <a:off x="6720840" y="2889504"/>
            <a:ext cx="4709160" cy="640080"/>
          </a:xfrm>
          <a:prstGeom prst="rect">
            <a:avLst/>
          </a:prstGeom>
          <a:noFill/>
          <a:ln/>
        </p:spPr>
        <p:txBody>
          <a:bodyPr wrap="square" lIns="0" tIns="0" rIns="0" bIns="0" rtlCol="0" anchor="ctr"/>
          <a:lstStyle/>
          <a:p>
            <a:pPr indent="0" marL="0">
              <a:lnSpc>
                <a:spcPct val="110000"/>
              </a:lnSpc>
              <a:buNone/>
            </a:pPr>
            <a:r>
              <a:rPr lang="en-US" sz="1150" dirty="0">
                <a:solidFill>
                  <a:srgbClr val="FFFFFF"/>
                </a:solidFill>
                <a:latin typeface="Calibri" pitchFamily="34" charset="0"/>
                <a:ea typeface="Calibri" pitchFamily="34" charset="-122"/>
                <a:cs typeface="Calibri" pitchFamily="34" charset="-120"/>
              </a:rPr>
              <a:t>100% refund initiated to original payment method — processed within 7 business days</a:t>
            </a:r>
            <a:endParaRPr lang="en-US" sz="1150" dirty="0"/>
          </a:p>
        </p:txBody>
      </p:sp>
      <p:sp>
        <p:nvSpPr>
          <p:cNvPr id="19" name="Shape 17"/>
          <p:cNvSpPr/>
          <p:nvPr/>
        </p:nvSpPr>
        <p:spPr>
          <a:xfrm>
            <a:off x="6355080" y="3685032"/>
            <a:ext cx="256032" cy="256032"/>
          </a:xfrm>
          <a:prstGeom prst="roundRect">
            <a:avLst>
              <a:gd name="adj" fmla="val 50000"/>
            </a:avLst>
          </a:prstGeom>
          <a:solidFill>
            <a:srgbClr val="E14B4B"/>
          </a:solidFill>
          <a:ln/>
        </p:spPr>
      </p:sp>
      <p:sp>
        <p:nvSpPr>
          <p:cNvPr id="20" name="Text 18"/>
          <p:cNvSpPr txBox="1"/>
          <p:nvPr/>
        </p:nvSpPr>
        <p:spPr>
          <a:xfrm>
            <a:off x="6355080" y="368503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1" name="Text 19"/>
          <p:cNvSpPr txBox="1"/>
          <p:nvPr/>
        </p:nvSpPr>
        <p:spPr>
          <a:xfrm>
            <a:off x="6720840" y="3602736"/>
            <a:ext cx="4709160" cy="640080"/>
          </a:xfrm>
          <a:prstGeom prst="rect">
            <a:avLst/>
          </a:prstGeom>
          <a:noFill/>
          <a:ln/>
        </p:spPr>
        <p:txBody>
          <a:bodyPr wrap="square" lIns="0" tIns="0" rIns="0" bIns="0" rtlCol="0" anchor="ctr"/>
          <a:lstStyle/>
          <a:p>
            <a:pPr indent="0" marL="0">
              <a:lnSpc>
                <a:spcPct val="110000"/>
              </a:lnSpc>
              <a:buNone/>
            </a:pPr>
            <a:r>
              <a:rPr lang="en-US" sz="1150" dirty="0">
                <a:solidFill>
                  <a:srgbClr val="FFFFFF"/>
                </a:solidFill>
                <a:latin typeface="Calibri" pitchFamily="34" charset="0"/>
                <a:ea typeface="Calibri" pitchFamily="34" charset="-122"/>
                <a:cs typeface="Calibri" pitchFamily="34" charset="-120"/>
              </a:rPr>
              <a:t>Complimentary upgrade blocked — not permitted by policy or Gold-tier benefits</a:t>
            </a:r>
            <a:endParaRPr lang="en-US" sz="1150" dirty="0"/>
          </a:p>
        </p:txBody>
      </p:sp>
      <p:sp>
        <p:nvSpPr>
          <p:cNvPr id="22" name="Shape 20"/>
          <p:cNvSpPr/>
          <p:nvPr/>
        </p:nvSpPr>
        <p:spPr>
          <a:xfrm>
            <a:off x="6355080" y="4398264"/>
            <a:ext cx="256032" cy="256032"/>
          </a:xfrm>
          <a:prstGeom prst="roundRect">
            <a:avLst>
              <a:gd name="adj" fmla="val 50000"/>
            </a:avLst>
          </a:prstGeom>
          <a:solidFill>
            <a:srgbClr val="2FA97E"/>
          </a:solidFill>
          <a:ln/>
        </p:spPr>
      </p:sp>
      <p:sp>
        <p:nvSpPr>
          <p:cNvPr id="23" name="Text 21"/>
          <p:cNvSpPr txBox="1"/>
          <p:nvPr/>
        </p:nvSpPr>
        <p:spPr>
          <a:xfrm>
            <a:off x="6355080" y="4398264"/>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4" name="Text 22"/>
          <p:cNvSpPr txBox="1"/>
          <p:nvPr/>
        </p:nvSpPr>
        <p:spPr>
          <a:xfrm>
            <a:off x="6720840" y="4315968"/>
            <a:ext cx="4709160" cy="640080"/>
          </a:xfrm>
          <a:prstGeom prst="rect">
            <a:avLst/>
          </a:prstGeom>
          <a:noFill/>
          <a:ln/>
        </p:spPr>
        <p:txBody>
          <a:bodyPr wrap="square" lIns="0" tIns="0" rIns="0" bIns="0" rtlCol="0" anchor="ctr"/>
          <a:lstStyle/>
          <a:p>
            <a:pPr indent="0" marL="0">
              <a:lnSpc>
                <a:spcPct val="110000"/>
              </a:lnSpc>
              <a:buNone/>
            </a:pPr>
            <a:r>
              <a:rPr lang="en-US" sz="1150" dirty="0">
                <a:solidFill>
                  <a:srgbClr val="FFFFFF"/>
                </a:solidFill>
                <a:latin typeface="Calibri" pitchFamily="34" charset="0"/>
                <a:ea typeface="Calibri" pitchFamily="34" charset="-122"/>
                <a:cs typeface="Calibri" pitchFamily="34" charset="-120"/>
              </a:rPr>
              <a:t>Upgrade exception request escalated to Supervisor team for formal review</a:t>
            </a:r>
            <a:endParaRPr lang="en-US" sz="1150" dirty="0"/>
          </a:p>
        </p:txBody>
      </p:sp>
      <p:sp>
        <p:nvSpPr>
          <p:cNvPr id="25" name="Text 23"/>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8C97AE"/>
                </a:solidFill>
                <a:latin typeface="Calibri" pitchFamily="34" charset="0"/>
                <a:ea typeface="Calibri" pitchFamily="34" charset="-122"/>
                <a:cs typeface="Calibri" pitchFamily="34" charset="-120"/>
              </a:rPr>
              <a:t>SkyAssist — AIONOS Agentic AI Factory · Assignment 3</a:t>
            </a:r>
            <a:endParaRPr lang="en-US" sz="900" dirty="0"/>
          </a:p>
        </p:txBody>
      </p:sp>
      <p:sp>
        <p:nvSpPr>
          <p:cNvPr id="26" name="Text 24"/>
          <p:cNvSpPr txBox="1"/>
          <p:nvPr/>
        </p:nvSpPr>
        <p:spPr>
          <a:xfrm>
            <a:off x="11365992" y="6473952"/>
            <a:ext cx="457200" cy="274320"/>
          </a:xfrm>
          <a:prstGeom prst="rect">
            <a:avLst/>
          </a:prstGeom>
          <a:noFill/>
          <a:ln/>
        </p:spPr>
        <p:txBody>
          <a:bodyPr wrap="square" lIns="0" tIns="0" rIns="0" bIns="0" rtlCol="0" anchor="ctr"/>
          <a:lstStyle/>
          <a:p>
            <a:pPr algn="r" indent="0" marL="0">
              <a:buNone/>
            </a:pPr>
            <a:r>
              <a:rPr lang="en-US" sz="900" dirty="0">
                <a:solidFill>
                  <a:srgbClr val="8C97AE"/>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B"/>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5A6B8C"/>
                </a:solidFill>
                <a:latin typeface="Calibri" pitchFamily="34" charset="0"/>
                <a:ea typeface="Calibri" pitchFamily="34" charset="-122"/>
                <a:cs typeface="Calibri" pitchFamily="34" charset="-120"/>
              </a:rPr>
              <a:t>SCENARIO 2 RESOLUTION</a:t>
            </a:r>
            <a:endParaRPr lang="en-US" sz="1200" dirty="0"/>
          </a:p>
        </p:txBody>
      </p:sp>
      <p:sp>
        <p:nvSpPr>
          <p:cNvPr id="3" name="Text 1"/>
          <p:cNvSpPr txBox="1"/>
          <p:nvPr/>
        </p:nvSpPr>
        <p:spPr>
          <a:xfrm>
            <a:off x="548640" y="621792"/>
            <a:ext cx="109728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Arvind Kulkarni — 4-Hour Delay</a:t>
            </a:r>
            <a:endParaRPr lang="en-US" sz="3000" dirty="0"/>
          </a:p>
        </p:txBody>
      </p:sp>
      <p:sp>
        <p:nvSpPr>
          <p:cNvPr id="4" name="Shape 2"/>
          <p:cNvSpPr/>
          <p:nvPr/>
        </p:nvSpPr>
        <p:spPr>
          <a:xfrm>
            <a:off x="548640" y="1417320"/>
            <a:ext cx="1554480" cy="310896"/>
          </a:xfrm>
          <a:prstGeom prst="roundRect">
            <a:avLst>
              <a:gd name="adj" fmla="val 23529"/>
            </a:avLst>
          </a:prstGeom>
          <a:solidFill>
            <a:srgbClr val="1E2761"/>
          </a:solidFill>
          <a:ln/>
        </p:spPr>
      </p:sp>
      <p:sp>
        <p:nvSpPr>
          <p:cNvPr id="5" name="Text 3"/>
          <p:cNvSpPr txBox="1"/>
          <p:nvPr/>
        </p:nvSpPr>
        <p:spPr>
          <a:xfrm>
            <a:off x="548640" y="1417320"/>
            <a:ext cx="155448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SILVER TIER</a:t>
            </a:r>
            <a:endParaRPr lang="en-US" sz="1100" dirty="0"/>
          </a:p>
        </p:txBody>
      </p:sp>
      <p:sp>
        <p:nvSpPr>
          <p:cNvPr id="6" name="Shape 4"/>
          <p:cNvSpPr/>
          <p:nvPr/>
        </p:nvSpPr>
        <p:spPr>
          <a:xfrm>
            <a:off x="2240280" y="1417320"/>
            <a:ext cx="1645920" cy="310896"/>
          </a:xfrm>
          <a:prstGeom prst="roundRect">
            <a:avLst>
              <a:gd name="adj" fmla="val 23529"/>
            </a:avLst>
          </a:prstGeom>
          <a:solidFill>
            <a:srgbClr val="5A6B8C"/>
          </a:solidFill>
          <a:ln/>
        </p:spPr>
      </p:sp>
      <p:sp>
        <p:nvSpPr>
          <p:cNvPr id="7" name="Text 5"/>
          <p:cNvSpPr txBox="1"/>
          <p:nvPr/>
        </p:nvSpPr>
        <p:spPr>
          <a:xfrm>
            <a:off x="2240280" y="1417320"/>
            <a:ext cx="164592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PNR TR1190B</a:t>
            </a:r>
            <a:endParaRPr lang="en-US" sz="1100" dirty="0"/>
          </a:p>
        </p:txBody>
      </p:sp>
      <p:sp>
        <p:nvSpPr>
          <p:cNvPr id="8" name="Shape 6"/>
          <p:cNvSpPr/>
          <p:nvPr/>
        </p:nvSpPr>
        <p:spPr>
          <a:xfrm>
            <a:off x="4023360" y="1417320"/>
            <a:ext cx="2103120" cy="310896"/>
          </a:xfrm>
          <a:prstGeom prst="roundRect">
            <a:avLst>
              <a:gd name="adj" fmla="val 23529"/>
            </a:avLst>
          </a:prstGeom>
          <a:solidFill>
            <a:srgbClr val="F2A93B"/>
          </a:solidFill>
          <a:ln/>
        </p:spPr>
      </p:sp>
      <p:sp>
        <p:nvSpPr>
          <p:cNvPr id="9" name="Text 7"/>
          <p:cNvSpPr txBox="1"/>
          <p:nvPr/>
        </p:nvSpPr>
        <p:spPr>
          <a:xfrm>
            <a:off x="4023360" y="1417320"/>
            <a:ext cx="210312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DELAYED 4H</a:t>
            </a:r>
            <a:endParaRPr lang="en-US" sz="1100" dirty="0"/>
          </a:p>
        </p:txBody>
      </p:sp>
      <p:sp>
        <p:nvSpPr>
          <p:cNvPr id="10" name="Text 8"/>
          <p:cNvSpPr txBox="1"/>
          <p:nvPr/>
        </p:nvSpPr>
        <p:spPr>
          <a:xfrm>
            <a:off x="548640" y="1874520"/>
            <a:ext cx="7315200" cy="320040"/>
          </a:xfrm>
          <a:prstGeom prst="rect">
            <a:avLst/>
          </a:prstGeom>
          <a:noFill/>
          <a:ln/>
        </p:spPr>
        <p:txBody>
          <a:bodyPr wrap="square" lIns="0" tIns="0" rIns="0" bIns="0" rtlCol="0" anchor="ctr"/>
          <a:lstStyle/>
          <a:p>
            <a:pPr indent="0" marL="0">
              <a:buNone/>
            </a:pPr>
            <a:r>
              <a:rPr lang="en-US" sz="1250" dirty="0">
                <a:solidFill>
                  <a:srgbClr val="44507A"/>
                </a:solidFill>
                <a:latin typeface="Calibri" pitchFamily="34" charset="0"/>
                <a:ea typeface="Calibri" pitchFamily="34" charset="-122"/>
                <a:cs typeface="Calibri" pitchFamily="34" charset="-120"/>
              </a:rPr>
              <a:t>SK-118 · Mumbai → Bengaluru · Delayed 4h (new departure 11:10)</a:t>
            </a:r>
            <a:endParaRPr lang="en-US" sz="1250" dirty="0"/>
          </a:p>
        </p:txBody>
      </p:sp>
      <p:sp>
        <p:nvSpPr>
          <p:cNvPr id="11" name="Shape 9"/>
          <p:cNvSpPr/>
          <p:nvPr/>
        </p:nvSpPr>
        <p:spPr>
          <a:xfrm>
            <a:off x="548640" y="2377440"/>
            <a:ext cx="5349240" cy="3520440"/>
          </a:xfrm>
          <a:prstGeom prst="roundRect">
            <a:avLst>
              <a:gd name="adj" fmla="val 2078"/>
            </a:avLst>
          </a:prstGeom>
          <a:solidFill>
            <a:srgbClr val="FFFFFF"/>
          </a:solidFill>
          <a:ln w="12700">
            <a:solidFill>
              <a:srgbClr val="DCE2F2"/>
            </a:solidFill>
            <a:prstDash val="solid"/>
          </a:ln>
        </p:spPr>
      </p:sp>
      <p:sp>
        <p:nvSpPr>
          <p:cNvPr id="12" name="Text 10"/>
          <p:cNvSpPr txBox="1"/>
          <p:nvPr/>
        </p:nvSpPr>
        <p:spPr>
          <a:xfrm>
            <a:off x="822960" y="2578608"/>
            <a:ext cx="3657600" cy="274320"/>
          </a:xfrm>
          <a:prstGeom prst="rect">
            <a:avLst/>
          </a:prstGeom>
          <a:noFill/>
          <a:ln/>
        </p:spPr>
        <p:txBody>
          <a:bodyPr wrap="square" lIns="0" tIns="0" rIns="0" bIns="0" rtlCol="0" anchor="ctr"/>
          <a:lstStyle/>
          <a:p>
            <a:pPr indent="0" marL="0">
              <a:buNone/>
            </a:pPr>
            <a:r>
              <a:rPr lang="en-US" sz="1050" b="1" spc="100" kern="0" dirty="0">
                <a:solidFill>
                  <a:srgbClr val="E14B4B"/>
                </a:solidFill>
                <a:latin typeface="Calibri" pitchFamily="34" charset="0"/>
                <a:ea typeface="Calibri" pitchFamily="34" charset="-122"/>
                <a:cs typeface="Calibri" pitchFamily="34" charset="-120"/>
              </a:rPr>
              <a:t>PASSENGER CONFLICT</a:t>
            </a:r>
            <a:endParaRPr lang="en-US" sz="1050" dirty="0"/>
          </a:p>
        </p:txBody>
      </p:sp>
      <p:sp>
        <p:nvSpPr>
          <p:cNvPr id="13" name="Text 11"/>
          <p:cNvSpPr txBox="1"/>
          <p:nvPr/>
        </p:nvSpPr>
        <p:spPr>
          <a:xfrm>
            <a:off x="822960" y="2926080"/>
            <a:ext cx="4800600" cy="2834640"/>
          </a:xfrm>
          <a:prstGeom prst="rect">
            <a:avLst/>
          </a:prstGeom>
          <a:noFill/>
          <a:ln/>
        </p:spPr>
        <p:txBody>
          <a:bodyPr wrap="square" lIns="0" tIns="0" rIns="0" bIns="0" rtlCol="0" anchor="t"/>
          <a:lstStyle/>
          <a:p>
            <a:pPr indent="0" marL="0">
              <a:lnSpc>
                <a:spcPct val="130000"/>
              </a:lnSpc>
              <a:buNone/>
            </a:pPr>
            <a:r>
              <a:rPr lang="en-US" sz="1300" dirty="0">
                <a:solidFill>
                  <a:srgbClr val="2C3560"/>
                </a:solidFill>
                <a:latin typeface="Calibri" pitchFamily="34" charset="0"/>
                <a:ea typeface="Calibri" pitchFamily="34" charset="-122"/>
                <a:cs typeface="Calibri" pitchFamily="34" charset="-120"/>
              </a:rPr>
              <a:t>Arvind is frustrated about missing a connecting business meeting and demands hotel accommodation "since it's such a long delay."</a:t>
            </a:r>
            <a:endParaRPr lang="en-US" sz="1300" dirty="0"/>
          </a:p>
          <a:p>
            <a:pPr indent="0" marL="0">
              <a:lnSpc>
                <a:spcPct val="130000"/>
              </a:lnSpc>
              <a:buNone/>
            </a:pPr>
            <a:endParaRPr lang="en-US" sz="1300" dirty="0"/>
          </a:p>
          <a:p>
            <a:pPr indent="0" marL="0">
              <a:lnSpc>
                <a:spcPct val="130000"/>
              </a:lnSpc>
              <a:buNone/>
            </a:pPr>
            <a:r>
              <a:rPr lang="en-US" sz="1300" dirty="0">
                <a:solidFill>
                  <a:srgbClr val="2C3560"/>
                </a:solidFill>
                <a:latin typeface="Calibri" pitchFamily="34" charset="0"/>
                <a:ea typeface="Calibri" pitchFamily="34" charset="-122"/>
                <a:cs typeface="Calibri" pitchFamily="34" charset="-120"/>
              </a:rPr>
              <a:t>Policy: hotel accommodation strictly requires a delay greater than 5 hours — this is a 4-hour delay.</a:t>
            </a:r>
            <a:endParaRPr lang="en-US" sz="1300" dirty="0"/>
          </a:p>
        </p:txBody>
      </p:sp>
      <p:sp>
        <p:nvSpPr>
          <p:cNvPr id="14" name="Shape 12"/>
          <p:cNvSpPr/>
          <p:nvPr/>
        </p:nvSpPr>
        <p:spPr>
          <a:xfrm>
            <a:off x="6080760" y="2377440"/>
            <a:ext cx="5532120" cy="3520440"/>
          </a:xfrm>
          <a:prstGeom prst="roundRect">
            <a:avLst>
              <a:gd name="adj" fmla="val 2078"/>
            </a:avLst>
          </a:prstGeom>
          <a:solidFill>
            <a:srgbClr val="1E2761"/>
          </a:solidFill>
          <a:ln/>
        </p:spPr>
      </p:sp>
      <p:sp>
        <p:nvSpPr>
          <p:cNvPr id="15" name="Text 13"/>
          <p:cNvSpPr txBox="1"/>
          <p:nvPr/>
        </p:nvSpPr>
        <p:spPr>
          <a:xfrm>
            <a:off x="6355080" y="2578608"/>
            <a:ext cx="4114800" cy="274320"/>
          </a:xfrm>
          <a:prstGeom prst="rect">
            <a:avLst/>
          </a:prstGeom>
          <a:noFill/>
          <a:ln/>
        </p:spPr>
        <p:txBody>
          <a:bodyPr wrap="square" lIns="0" tIns="0" rIns="0" bIns="0" rtlCol="0" anchor="ctr"/>
          <a:lstStyle/>
          <a:p>
            <a:pPr indent="0" marL="0">
              <a:buNone/>
            </a:pPr>
            <a:r>
              <a:rPr lang="en-US" sz="1050" b="1" spc="100" kern="0" dirty="0">
                <a:solidFill>
                  <a:srgbClr val="F2A93B"/>
                </a:solidFill>
                <a:latin typeface="Calibri" pitchFamily="34" charset="0"/>
                <a:ea typeface="Calibri" pitchFamily="34" charset="-122"/>
                <a:cs typeface="Calibri" pitchFamily="34" charset="-120"/>
              </a:rPr>
              <a:t>AGENT POLICY EXECUTION</a:t>
            </a:r>
            <a:endParaRPr lang="en-US" sz="1050" dirty="0"/>
          </a:p>
        </p:txBody>
      </p:sp>
      <p:sp>
        <p:nvSpPr>
          <p:cNvPr id="16" name="Shape 14"/>
          <p:cNvSpPr/>
          <p:nvPr/>
        </p:nvSpPr>
        <p:spPr>
          <a:xfrm>
            <a:off x="6355080" y="2971800"/>
            <a:ext cx="256032" cy="256032"/>
          </a:xfrm>
          <a:prstGeom prst="roundRect">
            <a:avLst>
              <a:gd name="adj" fmla="val 50000"/>
            </a:avLst>
          </a:prstGeom>
          <a:solidFill>
            <a:srgbClr val="2FA97E"/>
          </a:solidFill>
          <a:ln/>
        </p:spPr>
      </p:sp>
      <p:sp>
        <p:nvSpPr>
          <p:cNvPr id="17" name="Text 15"/>
          <p:cNvSpPr txBox="1"/>
          <p:nvPr/>
        </p:nvSpPr>
        <p:spPr>
          <a:xfrm>
            <a:off x="6355080" y="2971800"/>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8" name="Text 16"/>
          <p:cNvSpPr txBox="1"/>
          <p:nvPr/>
        </p:nvSpPr>
        <p:spPr>
          <a:xfrm>
            <a:off x="6720840" y="2889504"/>
            <a:ext cx="4709160" cy="640080"/>
          </a:xfrm>
          <a:prstGeom prst="rect">
            <a:avLst/>
          </a:prstGeom>
          <a:noFill/>
          <a:ln/>
        </p:spPr>
        <p:txBody>
          <a:bodyPr wrap="square" lIns="0" tIns="0" rIns="0" bIns="0" rtlCol="0" anchor="ctr"/>
          <a:lstStyle/>
          <a:p>
            <a:pPr indent="0" marL="0">
              <a:lnSpc>
                <a:spcPct val="110000"/>
              </a:lnSpc>
              <a:buNone/>
            </a:pPr>
            <a:r>
              <a:rPr lang="en-US" sz="1150" dirty="0">
                <a:solidFill>
                  <a:srgbClr val="FFFFFF"/>
                </a:solidFill>
                <a:latin typeface="Calibri" pitchFamily="34" charset="0"/>
                <a:ea typeface="Calibri" pitchFamily="34" charset="-122"/>
                <a:cs typeface="Calibri" pitchFamily="34" charset="-120"/>
              </a:rPr>
              <a:t>₹500 meal voucher automatically credited to booking</a:t>
            </a:r>
            <a:endParaRPr lang="en-US" sz="1150" dirty="0"/>
          </a:p>
        </p:txBody>
      </p:sp>
      <p:sp>
        <p:nvSpPr>
          <p:cNvPr id="19" name="Shape 17"/>
          <p:cNvSpPr/>
          <p:nvPr/>
        </p:nvSpPr>
        <p:spPr>
          <a:xfrm>
            <a:off x="6355080" y="3685032"/>
            <a:ext cx="256032" cy="256032"/>
          </a:xfrm>
          <a:prstGeom prst="roundRect">
            <a:avLst>
              <a:gd name="adj" fmla="val 50000"/>
            </a:avLst>
          </a:prstGeom>
          <a:solidFill>
            <a:srgbClr val="2FA97E"/>
          </a:solidFill>
          <a:ln/>
        </p:spPr>
      </p:sp>
      <p:sp>
        <p:nvSpPr>
          <p:cNvPr id="20" name="Text 18"/>
          <p:cNvSpPr txBox="1"/>
          <p:nvPr/>
        </p:nvSpPr>
        <p:spPr>
          <a:xfrm>
            <a:off x="6355080" y="368503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1" name="Text 19"/>
          <p:cNvSpPr txBox="1"/>
          <p:nvPr/>
        </p:nvSpPr>
        <p:spPr>
          <a:xfrm>
            <a:off x="6720840" y="3602736"/>
            <a:ext cx="4709160" cy="640080"/>
          </a:xfrm>
          <a:prstGeom prst="rect">
            <a:avLst/>
          </a:prstGeom>
          <a:noFill/>
          <a:ln/>
        </p:spPr>
        <p:txBody>
          <a:bodyPr wrap="square" lIns="0" tIns="0" rIns="0" bIns="0" rtlCol="0" anchor="ctr"/>
          <a:lstStyle/>
          <a:p>
            <a:pPr indent="0" marL="0">
              <a:lnSpc>
                <a:spcPct val="110000"/>
              </a:lnSpc>
              <a:buNone/>
            </a:pPr>
            <a:r>
              <a:rPr lang="en-US" sz="1150" dirty="0">
                <a:solidFill>
                  <a:srgbClr val="FFFFFF"/>
                </a:solidFill>
                <a:latin typeface="Calibri" pitchFamily="34" charset="0"/>
                <a:ea typeface="Calibri" pitchFamily="34" charset="-122"/>
                <a:cs typeface="Calibri" pitchFamily="34" charset="-120"/>
              </a:rPr>
              <a:t>Digital airport lounge pass issued so he can work comfortably</a:t>
            </a:r>
            <a:endParaRPr lang="en-US" sz="1150" dirty="0"/>
          </a:p>
        </p:txBody>
      </p:sp>
      <p:sp>
        <p:nvSpPr>
          <p:cNvPr id="22" name="Shape 20"/>
          <p:cNvSpPr/>
          <p:nvPr/>
        </p:nvSpPr>
        <p:spPr>
          <a:xfrm>
            <a:off x="6355080" y="4398264"/>
            <a:ext cx="256032" cy="256032"/>
          </a:xfrm>
          <a:prstGeom prst="roundRect">
            <a:avLst>
              <a:gd name="adj" fmla="val 50000"/>
            </a:avLst>
          </a:prstGeom>
          <a:solidFill>
            <a:srgbClr val="E14B4B"/>
          </a:solidFill>
          <a:ln/>
        </p:spPr>
      </p:sp>
      <p:sp>
        <p:nvSpPr>
          <p:cNvPr id="23" name="Text 21"/>
          <p:cNvSpPr txBox="1"/>
          <p:nvPr/>
        </p:nvSpPr>
        <p:spPr>
          <a:xfrm>
            <a:off x="6355080" y="4398264"/>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4" name="Text 22"/>
          <p:cNvSpPr txBox="1"/>
          <p:nvPr/>
        </p:nvSpPr>
        <p:spPr>
          <a:xfrm>
            <a:off x="6720840" y="4315968"/>
            <a:ext cx="4709160" cy="640080"/>
          </a:xfrm>
          <a:prstGeom prst="rect">
            <a:avLst/>
          </a:prstGeom>
          <a:noFill/>
          <a:ln/>
        </p:spPr>
        <p:txBody>
          <a:bodyPr wrap="square" lIns="0" tIns="0" rIns="0" bIns="0" rtlCol="0" anchor="ctr"/>
          <a:lstStyle/>
          <a:p>
            <a:pPr indent="0" marL="0">
              <a:lnSpc>
                <a:spcPct val="110000"/>
              </a:lnSpc>
              <a:buNone/>
            </a:pPr>
            <a:r>
              <a:rPr lang="en-US" sz="1150" dirty="0">
                <a:solidFill>
                  <a:srgbClr val="FFFFFF"/>
                </a:solidFill>
                <a:latin typeface="Calibri" pitchFamily="34" charset="0"/>
                <a:ea typeface="Calibri" pitchFamily="34" charset="-122"/>
                <a:cs typeface="Calibri" pitchFamily="34" charset="-120"/>
              </a:rPr>
              <a:t>Hotel request declined and clearly explained — 5-hour threshold not met</a:t>
            </a:r>
            <a:endParaRPr lang="en-US" sz="1150" dirty="0"/>
          </a:p>
        </p:txBody>
      </p:sp>
      <p:sp>
        <p:nvSpPr>
          <p:cNvPr id="25" name="Text 23"/>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8C97AE"/>
                </a:solidFill>
                <a:latin typeface="Calibri" pitchFamily="34" charset="0"/>
                <a:ea typeface="Calibri" pitchFamily="34" charset="-122"/>
                <a:cs typeface="Calibri" pitchFamily="34" charset="-120"/>
              </a:rPr>
              <a:t>SkyAssist — AIONOS Agentic AI Factory · Assignment 3</a:t>
            </a:r>
            <a:endParaRPr lang="en-US" sz="900" dirty="0"/>
          </a:p>
        </p:txBody>
      </p:sp>
      <p:sp>
        <p:nvSpPr>
          <p:cNvPr id="26" name="Text 24"/>
          <p:cNvSpPr txBox="1"/>
          <p:nvPr/>
        </p:nvSpPr>
        <p:spPr>
          <a:xfrm>
            <a:off x="11365992" y="6473952"/>
            <a:ext cx="457200" cy="274320"/>
          </a:xfrm>
          <a:prstGeom prst="rect">
            <a:avLst/>
          </a:prstGeom>
          <a:noFill/>
          <a:ln/>
        </p:spPr>
        <p:txBody>
          <a:bodyPr wrap="square" lIns="0" tIns="0" rIns="0" bIns="0" rtlCol="0" anchor="ctr"/>
          <a:lstStyle/>
          <a:p>
            <a:pPr algn="r" indent="0" marL="0">
              <a:buNone/>
            </a:pPr>
            <a:r>
              <a:rPr lang="en-US" sz="900" dirty="0">
                <a:solidFill>
                  <a:srgbClr val="8C97AE"/>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B"/>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5A6B8C"/>
                </a:solidFill>
                <a:latin typeface="Calibri" pitchFamily="34" charset="0"/>
                <a:ea typeface="Calibri" pitchFamily="34" charset="-122"/>
                <a:cs typeface="Calibri" pitchFamily="34" charset="-120"/>
              </a:rPr>
              <a:t>SCENARIO 3 RESOLUTION</a:t>
            </a:r>
            <a:endParaRPr lang="en-US" sz="1200" dirty="0"/>
          </a:p>
        </p:txBody>
      </p:sp>
      <p:sp>
        <p:nvSpPr>
          <p:cNvPr id="3" name="Text 1"/>
          <p:cNvSpPr txBox="1"/>
          <p:nvPr/>
        </p:nvSpPr>
        <p:spPr>
          <a:xfrm>
            <a:off x="548640" y="621792"/>
            <a:ext cx="109728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Meher Kaur — 6-Hour Delay &amp; Fare Difference</a:t>
            </a:r>
            <a:endParaRPr lang="en-US" sz="3000" dirty="0"/>
          </a:p>
        </p:txBody>
      </p:sp>
      <p:sp>
        <p:nvSpPr>
          <p:cNvPr id="4" name="Shape 2"/>
          <p:cNvSpPr/>
          <p:nvPr/>
        </p:nvSpPr>
        <p:spPr>
          <a:xfrm>
            <a:off x="548640" y="1417320"/>
            <a:ext cx="1554480" cy="310896"/>
          </a:xfrm>
          <a:prstGeom prst="roundRect">
            <a:avLst>
              <a:gd name="adj" fmla="val 23529"/>
            </a:avLst>
          </a:prstGeom>
          <a:solidFill>
            <a:srgbClr val="1E2761"/>
          </a:solidFill>
          <a:ln/>
        </p:spPr>
      </p:sp>
      <p:sp>
        <p:nvSpPr>
          <p:cNvPr id="5" name="Text 3"/>
          <p:cNvSpPr txBox="1"/>
          <p:nvPr/>
        </p:nvSpPr>
        <p:spPr>
          <a:xfrm>
            <a:off x="548640" y="1417320"/>
            <a:ext cx="155448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PLATINUM TIER</a:t>
            </a:r>
            <a:endParaRPr lang="en-US" sz="1100" dirty="0"/>
          </a:p>
        </p:txBody>
      </p:sp>
      <p:sp>
        <p:nvSpPr>
          <p:cNvPr id="6" name="Shape 4"/>
          <p:cNvSpPr/>
          <p:nvPr/>
        </p:nvSpPr>
        <p:spPr>
          <a:xfrm>
            <a:off x="2240280" y="1417320"/>
            <a:ext cx="1645920" cy="310896"/>
          </a:xfrm>
          <a:prstGeom prst="roundRect">
            <a:avLst>
              <a:gd name="adj" fmla="val 23529"/>
            </a:avLst>
          </a:prstGeom>
          <a:solidFill>
            <a:srgbClr val="5A6B8C"/>
          </a:solidFill>
          <a:ln/>
        </p:spPr>
      </p:sp>
      <p:sp>
        <p:nvSpPr>
          <p:cNvPr id="7" name="Text 5"/>
          <p:cNvSpPr txBox="1"/>
          <p:nvPr/>
        </p:nvSpPr>
        <p:spPr>
          <a:xfrm>
            <a:off x="2240280" y="1417320"/>
            <a:ext cx="164592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PNR WL7742</a:t>
            </a:r>
            <a:endParaRPr lang="en-US" sz="1100" dirty="0"/>
          </a:p>
        </p:txBody>
      </p:sp>
      <p:sp>
        <p:nvSpPr>
          <p:cNvPr id="8" name="Shape 6"/>
          <p:cNvSpPr/>
          <p:nvPr/>
        </p:nvSpPr>
        <p:spPr>
          <a:xfrm>
            <a:off x="4023360" y="1417320"/>
            <a:ext cx="2103120" cy="310896"/>
          </a:xfrm>
          <a:prstGeom prst="roundRect">
            <a:avLst>
              <a:gd name="adj" fmla="val 23529"/>
            </a:avLst>
          </a:prstGeom>
          <a:solidFill>
            <a:srgbClr val="F2A93B"/>
          </a:solidFill>
          <a:ln/>
        </p:spPr>
      </p:sp>
      <p:sp>
        <p:nvSpPr>
          <p:cNvPr id="9" name="Text 7"/>
          <p:cNvSpPr txBox="1"/>
          <p:nvPr/>
        </p:nvSpPr>
        <p:spPr>
          <a:xfrm>
            <a:off x="4023360" y="1417320"/>
            <a:ext cx="210312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DELAYED 6H</a:t>
            </a:r>
            <a:endParaRPr lang="en-US" sz="1100" dirty="0"/>
          </a:p>
        </p:txBody>
      </p:sp>
      <p:sp>
        <p:nvSpPr>
          <p:cNvPr id="10" name="Text 8"/>
          <p:cNvSpPr txBox="1"/>
          <p:nvPr/>
        </p:nvSpPr>
        <p:spPr>
          <a:xfrm>
            <a:off x="548640" y="1874520"/>
            <a:ext cx="7315200" cy="320040"/>
          </a:xfrm>
          <a:prstGeom prst="rect">
            <a:avLst/>
          </a:prstGeom>
          <a:noFill/>
          <a:ln/>
        </p:spPr>
        <p:txBody>
          <a:bodyPr wrap="square" lIns="0" tIns="0" rIns="0" bIns="0" rtlCol="0" anchor="ctr"/>
          <a:lstStyle/>
          <a:p>
            <a:pPr indent="0" marL="0">
              <a:buNone/>
            </a:pPr>
            <a:r>
              <a:rPr lang="en-US" sz="1250" dirty="0">
                <a:solidFill>
                  <a:srgbClr val="44507A"/>
                </a:solidFill>
                <a:latin typeface="Calibri" pitchFamily="34" charset="0"/>
                <a:ea typeface="Calibri" pitchFamily="34" charset="-122"/>
                <a:cs typeface="Calibri" pitchFamily="34" charset="-120"/>
              </a:rPr>
              <a:t>SK-305 · Delhi → Hyderabad · Delayed 6h (new departure 20:00)</a:t>
            </a:r>
            <a:endParaRPr lang="en-US" sz="1250" dirty="0"/>
          </a:p>
        </p:txBody>
      </p:sp>
      <p:sp>
        <p:nvSpPr>
          <p:cNvPr id="11" name="Shape 9"/>
          <p:cNvSpPr/>
          <p:nvPr/>
        </p:nvSpPr>
        <p:spPr>
          <a:xfrm>
            <a:off x="548640" y="2377440"/>
            <a:ext cx="5349240" cy="3520440"/>
          </a:xfrm>
          <a:prstGeom prst="roundRect">
            <a:avLst>
              <a:gd name="adj" fmla="val 2078"/>
            </a:avLst>
          </a:prstGeom>
          <a:solidFill>
            <a:srgbClr val="FFFFFF"/>
          </a:solidFill>
          <a:ln w="12700">
            <a:solidFill>
              <a:srgbClr val="DCE2F2"/>
            </a:solidFill>
            <a:prstDash val="solid"/>
          </a:ln>
        </p:spPr>
      </p:sp>
      <p:sp>
        <p:nvSpPr>
          <p:cNvPr id="12" name="Text 10"/>
          <p:cNvSpPr txBox="1"/>
          <p:nvPr/>
        </p:nvSpPr>
        <p:spPr>
          <a:xfrm>
            <a:off x="822960" y="2578608"/>
            <a:ext cx="3657600" cy="274320"/>
          </a:xfrm>
          <a:prstGeom prst="rect">
            <a:avLst/>
          </a:prstGeom>
          <a:noFill/>
          <a:ln/>
        </p:spPr>
        <p:txBody>
          <a:bodyPr wrap="square" lIns="0" tIns="0" rIns="0" bIns="0" rtlCol="0" anchor="ctr"/>
          <a:lstStyle/>
          <a:p>
            <a:pPr indent="0" marL="0">
              <a:buNone/>
            </a:pPr>
            <a:r>
              <a:rPr lang="en-US" sz="1050" b="1" spc="100" kern="0" dirty="0">
                <a:solidFill>
                  <a:srgbClr val="E14B4B"/>
                </a:solidFill>
                <a:latin typeface="Calibri" pitchFamily="34" charset="0"/>
                <a:ea typeface="Calibri" pitchFamily="34" charset="-122"/>
                <a:cs typeface="Calibri" pitchFamily="34" charset="-120"/>
              </a:rPr>
              <a:t>PASSENGER CONFLICT</a:t>
            </a:r>
            <a:endParaRPr lang="en-US" sz="1050" dirty="0"/>
          </a:p>
        </p:txBody>
      </p:sp>
      <p:sp>
        <p:nvSpPr>
          <p:cNvPr id="13" name="Text 11"/>
          <p:cNvSpPr txBox="1"/>
          <p:nvPr/>
        </p:nvSpPr>
        <p:spPr>
          <a:xfrm>
            <a:off x="822960" y="2926080"/>
            <a:ext cx="4800600" cy="2834640"/>
          </a:xfrm>
          <a:prstGeom prst="rect">
            <a:avLst/>
          </a:prstGeom>
          <a:noFill/>
          <a:ln/>
        </p:spPr>
        <p:txBody>
          <a:bodyPr wrap="square" lIns="0" tIns="0" rIns="0" bIns="0" rtlCol="0" anchor="t"/>
          <a:lstStyle/>
          <a:p>
            <a:pPr indent="0" marL="0">
              <a:lnSpc>
                <a:spcPct val="130000"/>
              </a:lnSpc>
              <a:buNone/>
            </a:pPr>
            <a:r>
              <a:rPr lang="en-US" sz="1300" dirty="0">
                <a:solidFill>
                  <a:srgbClr val="2C3560"/>
                </a:solidFill>
                <a:latin typeface="Calibri" pitchFamily="34" charset="0"/>
                <a:ea typeface="Calibri" pitchFamily="34" charset="-122"/>
                <a:cs typeface="Calibri" pitchFamily="34" charset="-120"/>
              </a:rPr>
              <a:t>Meher asks for:</a:t>
            </a:r>
            <a:endParaRPr lang="en-US" sz="1300" dirty="0"/>
          </a:p>
          <a:p>
            <a:pPr indent="0" marL="0">
              <a:lnSpc>
                <a:spcPct val="130000"/>
              </a:lnSpc>
              <a:buNone/>
            </a:pPr>
            <a:endParaRPr lang="en-US" sz="1300" dirty="0"/>
          </a:p>
          <a:p>
            <a:pPr indent="0" marL="0">
              <a:lnSpc>
                <a:spcPct val="130000"/>
              </a:lnSpc>
              <a:buNone/>
            </a:pPr>
            <a:r>
              <a:rPr lang="en-US" sz="1300" dirty="0">
                <a:solidFill>
                  <a:srgbClr val="2C3560"/>
                </a:solidFill>
                <a:latin typeface="Calibri" pitchFamily="34" charset="0"/>
                <a:ea typeface="Calibri" pitchFamily="34" charset="-122"/>
                <a:cs typeface="Calibri" pitchFamily="34" charset="-120"/>
              </a:rPr>
              <a:t>1. A full night's hotel stay, not just delayed-hours coverage.</a:t>
            </a:r>
            <a:endParaRPr lang="en-US" sz="1300" dirty="0"/>
          </a:p>
          <a:p>
            <a:pPr indent="0" marL="0">
              <a:lnSpc>
                <a:spcPct val="130000"/>
              </a:lnSpc>
              <a:buNone/>
            </a:pPr>
            <a:endParaRPr lang="en-US" sz="1300" dirty="0"/>
          </a:p>
          <a:p>
            <a:pPr indent="0" marL="0">
              <a:lnSpc>
                <a:spcPct val="130000"/>
              </a:lnSpc>
              <a:buNone/>
            </a:pPr>
            <a:r>
              <a:rPr lang="en-US" sz="1300" dirty="0">
                <a:solidFill>
                  <a:srgbClr val="2C3560"/>
                </a:solidFill>
                <a:latin typeface="Calibri" pitchFamily="34" charset="0"/>
                <a:ea typeface="Calibri" pitchFamily="34" charset="-122"/>
                <a:cs typeface="Calibri" pitchFamily="34" charset="-120"/>
              </a:rPr>
              <a:t>2. To be moved to flight SK-307, where the fare difference is ₹2,000 — above the ₹1,500 agent waiver limit.</a:t>
            </a:r>
            <a:endParaRPr lang="en-US" sz="1300" dirty="0"/>
          </a:p>
        </p:txBody>
      </p:sp>
      <p:sp>
        <p:nvSpPr>
          <p:cNvPr id="14" name="Shape 12"/>
          <p:cNvSpPr/>
          <p:nvPr/>
        </p:nvSpPr>
        <p:spPr>
          <a:xfrm>
            <a:off x="6080760" y="2377440"/>
            <a:ext cx="5532120" cy="3520440"/>
          </a:xfrm>
          <a:prstGeom prst="roundRect">
            <a:avLst>
              <a:gd name="adj" fmla="val 2078"/>
            </a:avLst>
          </a:prstGeom>
          <a:solidFill>
            <a:srgbClr val="1E2761"/>
          </a:solidFill>
          <a:ln/>
        </p:spPr>
      </p:sp>
      <p:sp>
        <p:nvSpPr>
          <p:cNvPr id="15" name="Text 13"/>
          <p:cNvSpPr txBox="1"/>
          <p:nvPr/>
        </p:nvSpPr>
        <p:spPr>
          <a:xfrm>
            <a:off x="6355080" y="2578608"/>
            <a:ext cx="4114800" cy="274320"/>
          </a:xfrm>
          <a:prstGeom prst="rect">
            <a:avLst/>
          </a:prstGeom>
          <a:noFill/>
          <a:ln/>
        </p:spPr>
        <p:txBody>
          <a:bodyPr wrap="square" lIns="0" tIns="0" rIns="0" bIns="0" rtlCol="0" anchor="ctr"/>
          <a:lstStyle/>
          <a:p>
            <a:pPr indent="0" marL="0">
              <a:buNone/>
            </a:pPr>
            <a:r>
              <a:rPr lang="en-US" sz="1050" b="1" spc="100" kern="0" dirty="0">
                <a:solidFill>
                  <a:srgbClr val="F2A93B"/>
                </a:solidFill>
                <a:latin typeface="Calibri" pitchFamily="34" charset="0"/>
                <a:ea typeface="Calibri" pitchFamily="34" charset="-122"/>
                <a:cs typeface="Calibri" pitchFamily="34" charset="-120"/>
              </a:rPr>
              <a:t>AGENT POLICY EXECUTION</a:t>
            </a:r>
            <a:endParaRPr lang="en-US" sz="1050" dirty="0"/>
          </a:p>
        </p:txBody>
      </p:sp>
      <p:sp>
        <p:nvSpPr>
          <p:cNvPr id="16" name="Shape 14"/>
          <p:cNvSpPr/>
          <p:nvPr/>
        </p:nvSpPr>
        <p:spPr>
          <a:xfrm>
            <a:off x="6355080" y="2971800"/>
            <a:ext cx="256032" cy="256032"/>
          </a:xfrm>
          <a:prstGeom prst="roundRect">
            <a:avLst>
              <a:gd name="adj" fmla="val 50000"/>
            </a:avLst>
          </a:prstGeom>
          <a:solidFill>
            <a:srgbClr val="2FA97E"/>
          </a:solidFill>
          <a:ln/>
        </p:spPr>
      </p:sp>
      <p:sp>
        <p:nvSpPr>
          <p:cNvPr id="17" name="Text 15"/>
          <p:cNvSpPr txBox="1"/>
          <p:nvPr/>
        </p:nvSpPr>
        <p:spPr>
          <a:xfrm>
            <a:off x="6355080" y="2971800"/>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8" name="Text 16"/>
          <p:cNvSpPr txBox="1"/>
          <p:nvPr/>
        </p:nvSpPr>
        <p:spPr>
          <a:xfrm>
            <a:off x="6720840" y="2889504"/>
            <a:ext cx="4709160" cy="640080"/>
          </a:xfrm>
          <a:prstGeom prst="rect">
            <a:avLst/>
          </a:prstGeom>
          <a:noFill/>
          <a:ln/>
        </p:spPr>
        <p:txBody>
          <a:bodyPr wrap="square" lIns="0" tIns="0" rIns="0" bIns="0" rtlCol="0" anchor="ctr"/>
          <a:lstStyle/>
          <a:p>
            <a:pPr indent="0" marL="0">
              <a:lnSpc>
                <a:spcPct val="110000"/>
              </a:lnSpc>
              <a:buNone/>
            </a:pPr>
            <a:r>
              <a:rPr lang="en-US" sz="1150" dirty="0">
                <a:solidFill>
                  <a:srgbClr val="FFFFFF"/>
                </a:solidFill>
                <a:latin typeface="Calibri" pitchFamily="34" charset="0"/>
                <a:ea typeface="Calibri" pitchFamily="34" charset="-122"/>
                <a:cs typeface="Calibri" pitchFamily="34" charset="-120"/>
              </a:rPr>
              <a:t>Day-use hotel granted, covering only the 6 delayed hours (until 20:00) + ₹500 meal voucher</a:t>
            </a:r>
            <a:endParaRPr lang="en-US" sz="1150" dirty="0"/>
          </a:p>
        </p:txBody>
      </p:sp>
      <p:sp>
        <p:nvSpPr>
          <p:cNvPr id="19" name="Shape 17"/>
          <p:cNvSpPr/>
          <p:nvPr/>
        </p:nvSpPr>
        <p:spPr>
          <a:xfrm>
            <a:off x="6355080" y="3685032"/>
            <a:ext cx="256032" cy="256032"/>
          </a:xfrm>
          <a:prstGeom prst="roundRect">
            <a:avLst>
              <a:gd name="adj" fmla="val 50000"/>
            </a:avLst>
          </a:prstGeom>
          <a:solidFill>
            <a:srgbClr val="E14B4B"/>
          </a:solidFill>
          <a:ln/>
        </p:spPr>
      </p:sp>
      <p:sp>
        <p:nvSpPr>
          <p:cNvPr id="20" name="Text 18"/>
          <p:cNvSpPr txBox="1"/>
          <p:nvPr/>
        </p:nvSpPr>
        <p:spPr>
          <a:xfrm>
            <a:off x="6355080" y="3685032"/>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1" name="Text 19"/>
          <p:cNvSpPr txBox="1"/>
          <p:nvPr/>
        </p:nvSpPr>
        <p:spPr>
          <a:xfrm>
            <a:off x="6720840" y="3602736"/>
            <a:ext cx="4709160" cy="640080"/>
          </a:xfrm>
          <a:prstGeom prst="rect">
            <a:avLst/>
          </a:prstGeom>
          <a:noFill/>
          <a:ln/>
        </p:spPr>
        <p:txBody>
          <a:bodyPr wrap="square" lIns="0" tIns="0" rIns="0" bIns="0" rtlCol="0" anchor="ctr"/>
          <a:lstStyle/>
          <a:p>
            <a:pPr indent="0" marL="0">
              <a:lnSpc>
                <a:spcPct val="110000"/>
              </a:lnSpc>
              <a:buNone/>
            </a:pPr>
            <a:r>
              <a:rPr lang="en-US" sz="1150" dirty="0">
                <a:solidFill>
                  <a:srgbClr val="FFFFFF"/>
                </a:solidFill>
                <a:latin typeface="Calibri" pitchFamily="34" charset="0"/>
                <a:ea typeface="Calibri" pitchFamily="34" charset="-122"/>
                <a:cs typeface="Calibri" pitchFamily="34" charset="-120"/>
              </a:rPr>
              <a:t>Full overnight stay declined — outside policy bounds</a:t>
            </a:r>
            <a:endParaRPr lang="en-US" sz="1150" dirty="0"/>
          </a:p>
        </p:txBody>
      </p:sp>
      <p:sp>
        <p:nvSpPr>
          <p:cNvPr id="22" name="Shape 20"/>
          <p:cNvSpPr/>
          <p:nvPr/>
        </p:nvSpPr>
        <p:spPr>
          <a:xfrm>
            <a:off x="6355080" y="4398264"/>
            <a:ext cx="256032" cy="256032"/>
          </a:xfrm>
          <a:prstGeom prst="roundRect">
            <a:avLst>
              <a:gd name="adj" fmla="val 50000"/>
            </a:avLst>
          </a:prstGeom>
          <a:solidFill>
            <a:srgbClr val="E14B4B"/>
          </a:solidFill>
          <a:ln/>
        </p:spPr>
      </p:sp>
      <p:sp>
        <p:nvSpPr>
          <p:cNvPr id="23" name="Text 21"/>
          <p:cNvSpPr txBox="1"/>
          <p:nvPr/>
        </p:nvSpPr>
        <p:spPr>
          <a:xfrm>
            <a:off x="6355080" y="4398264"/>
            <a:ext cx="256032"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4" name="Text 22"/>
          <p:cNvSpPr txBox="1"/>
          <p:nvPr/>
        </p:nvSpPr>
        <p:spPr>
          <a:xfrm>
            <a:off x="6720840" y="4315968"/>
            <a:ext cx="4709160" cy="640080"/>
          </a:xfrm>
          <a:prstGeom prst="rect">
            <a:avLst/>
          </a:prstGeom>
          <a:noFill/>
          <a:ln/>
        </p:spPr>
        <p:txBody>
          <a:bodyPr wrap="square" lIns="0" tIns="0" rIns="0" bIns="0" rtlCol="0" anchor="ctr"/>
          <a:lstStyle/>
          <a:p>
            <a:pPr indent="0" marL="0">
              <a:lnSpc>
                <a:spcPct val="110000"/>
              </a:lnSpc>
              <a:buNone/>
            </a:pPr>
            <a:r>
              <a:rPr lang="en-US" sz="1150" dirty="0">
                <a:solidFill>
                  <a:srgbClr val="FFFFFF"/>
                </a:solidFill>
                <a:latin typeface="Calibri" pitchFamily="34" charset="0"/>
                <a:ea typeface="Calibri" pitchFamily="34" charset="-122"/>
                <a:cs typeface="Calibri" pitchFamily="34" charset="-120"/>
              </a:rPr>
              <a:t>₹2,000 fare waiver exceeds the ₹1,500 agent limit — escalated to supervisor with case notes</a:t>
            </a:r>
            <a:endParaRPr lang="en-US" sz="1150" dirty="0"/>
          </a:p>
        </p:txBody>
      </p:sp>
      <p:sp>
        <p:nvSpPr>
          <p:cNvPr id="25" name="Text 23"/>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8C97AE"/>
                </a:solidFill>
                <a:latin typeface="Calibri" pitchFamily="34" charset="0"/>
                <a:ea typeface="Calibri" pitchFamily="34" charset="-122"/>
                <a:cs typeface="Calibri" pitchFamily="34" charset="-120"/>
              </a:rPr>
              <a:t>SkyAssist — AIONOS Agentic AI Factory · Assignment 3</a:t>
            </a:r>
            <a:endParaRPr lang="en-US" sz="900" dirty="0"/>
          </a:p>
        </p:txBody>
      </p:sp>
      <p:sp>
        <p:nvSpPr>
          <p:cNvPr id="26" name="Text 24"/>
          <p:cNvSpPr txBox="1"/>
          <p:nvPr/>
        </p:nvSpPr>
        <p:spPr>
          <a:xfrm>
            <a:off x="11365992" y="6473952"/>
            <a:ext cx="457200" cy="274320"/>
          </a:xfrm>
          <a:prstGeom prst="rect">
            <a:avLst/>
          </a:prstGeom>
          <a:noFill/>
          <a:ln/>
        </p:spPr>
        <p:txBody>
          <a:bodyPr wrap="square" lIns="0" tIns="0" rIns="0" bIns="0" rtlCol="0" anchor="ctr"/>
          <a:lstStyle/>
          <a:p>
            <a:pPr algn="r" indent="0" marL="0">
              <a:buNone/>
            </a:pPr>
            <a:r>
              <a:rPr lang="en-US" sz="900" dirty="0">
                <a:solidFill>
                  <a:srgbClr val="8C97AE"/>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B"/>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5A6B8C"/>
                </a:solidFill>
                <a:latin typeface="Calibri" pitchFamily="34" charset="0"/>
                <a:ea typeface="Calibri" pitchFamily="34" charset="-122"/>
                <a:cs typeface="Calibri" pitchFamily="34" charset="-120"/>
              </a:rPr>
              <a:t>SAFETY &amp; ESCALATION</a:t>
            </a:r>
            <a:endParaRPr lang="en-US" sz="1200" dirty="0"/>
          </a:p>
        </p:txBody>
      </p:sp>
      <p:sp>
        <p:nvSpPr>
          <p:cNvPr id="3" name="Text 1"/>
          <p:cNvSpPr txBox="1"/>
          <p:nvPr/>
        </p:nvSpPr>
        <p:spPr>
          <a:xfrm>
            <a:off x="548640" y="621792"/>
            <a:ext cx="109728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Guardrails: Allowed vs. Prohibited</a:t>
            </a:r>
            <a:endParaRPr lang="en-US" sz="3000" dirty="0"/>
          </a:p>
        </p:txBody>
      </p:sp>
      <p:sp>
        <p:nvSpPr>
          <p:cNvPr id="4" name="Shape 2"/>
          <p:cNvSpPr/>
          <p:nvPr/>
        </p:nvSpPr>
        <p:spPr>
          <a:xfrm>
            <a:off x="548640" y="1508760"/>
            <a:ext cx="5394960" cy="3566160"/>
          </a:xfrm>
          <a:prstGeom prst="roundRect">
            <a:avLst>
              <a:gd name="adj" fmla="val 2051"/>
            </a:avLst>
          </a:prstGeom>
          <a:solidFill>
            <a:srgbClr val="EAF7F1"/>
          </a:solidFill>
          <a:ln/>
        </p:spPr>
      </p:sp>
      <p:sp>
        <p:nvSpPr>
          <p:cNvPr id="5" name="Text 3"/>
          <p:cNvSpPr txBox="1"/>
          <p:nvPr/>
        </p:nvSpPr>
        <p:spPr>
          <a:xfrm>
            <a:off x="822960" y="1691640"/>
            <a:ext cx="4572000" cy="274320"/>
          </a:xfrm>
          <a:prstGeom prst="rect">
            <a:avLst/>
          </a:prstGeom>
          <a:noFill/>
          <a:ln/>
        </p:spPr>
        <p:txBody>
          <a:bodyPr wrap="square" lIns="0" tIns="0" rIns="0" bIns="0" rtlCol="0" anchor="ctr"/>
          <a:lstStyle/>
          <a:p>
            <a:pPr indent="0" marL="0">
              <a:buNone/>
            </a:pPr>
            <a:r>
              <a:rPr lang="en-US" sz="1200" b="1" spc="100" kern="0" dirty="0">
                <a:solidFill>
                  <a:srgbClr val="2FA97E"/>
                </a:solidFill>
                <a:latin typeface="Calibri" pitchFamily="34" charset="0"/>
                <a:ea typeface="Calibri" pitchFamily="34" charset="-122"/>
                <a:cs typeface="Calibri" pitchFamily="34" charset="-120"/>
              </a:rPr>
              <a:t>ALLOWED — AUTONOMOUS</a:t>
            </a:r>
            <a:endParaRPr lang="en-US" sz="1200" dirty="0"/>
          </a:p>
        </p:txBody>
      </p:sp>
      <p:sp>
        <p:nvSpPr>
          <p:cNvPr id="6" name="Text 4"/>
          <p:cNvSpPr txBox="1"/>
          <p:nvPr/>
        </p:nvSpPr>
        <p:spPr>
          <a:xfrm>
            <a:off x="822960" y="2103120"/>
            <a:ext cx="274320" cy="365760"/>
          </a:xfrm>
          <a:prstGeom prst="rect">
            <a:avLst/>
          </a:prstGeom>
          <a:noFill/>
          <a:ln/>
        </p:spPr>
        <p:txBody>
          <a:bodyPr wrap="square" lIns="0" tIns="0" rIns="0" bIns="0" rtlCol="0" anchor="ctr"/>
          <a:lstStyle/>
          <a:p>
            <a:pPr indent="0" marL="0">
              <a:buNone/>
            </a:pPr>
            <a:r>
              <a:rPr lang="en-US" sz="1300" b="1" dirty="0">
                <a:solidFill>
                  <a:srgbClr val="2FA97E"/>
                </a:solidFill>
                <a:latin typeface="Calibri" pitchFamily="34" charset="0"/>
                <a:ea typeface="Calibri" pitchFamily="34" charset="-122"/>
                <a:cs typeface="Calibri" pitchFamily="34" charset="-120"/>
              </a:rPr>
              <a:t>✓</a:t>
            </a:r>
            <a:endParaRPr lang="en-US" sz="1300" dirty="0"/>
          </a:p>
        </p:txBody>
      </p:sp>
      <p:sp>
        <p:nvSpPr>
          <p:cNvPr id="7" name="Text 5"/>
          <p:cNvSpPr txBox="1"/>
          <p:nvPr/>
        </p:nvSpPr>
        <p:spPr>
          <a:xfrm>
            <a:off x="1143000" y="2103120"/>
            <a:ext cx="4663440" cy="365760"/>
          </a:xfrm>
          <a:prstGeom prst="rect">
            <a:avLst/>
          </a:prstGeom>
          <a:noFill/>
          <a:ln/>
        </p:spPr>
        <p:txBody>
          <a:bodyPr wrap="square" lIns="0" tIns="0" rIns="0" bIns="0" rtlCol="0" anchor="ctr"/>
          <a:lstStyle/>
          <a:p>
            <a:pPr indent="0" marL="0">
              <a:buNone/>
            </a:pPr>
            <a:r>
              <a:rPr lang="en-US" sz="1200" dirty="0">
                <a:solidFill>
                  <a:srgbClr val="1F4A3A"/>
                </a:solidFill>
                <a:latin typeface="Calibri" pitchFamily="34" charset="0"/>
                <a:ea typeface="Calibri" pitchFamily="34" charset="-122"/>
                <a:cs typeface="Calibri" pitchFamily="34" charset="-120"/>
              </a:rPr>
              <a:t>Rebook on next flight within 24h at no charge</a:t>
            </a:r>
            <a:endParaRPr lang="en-US" sz="1200" dirty="0"/>
          </a:p>
        </p:txBody>
      </p:sp>
      <p:sp>
        <p:nvSpPr>
          <p:cNvPr id="8" name="Text 6"/>
          <p:cNvSpPr txBox="1"/>
          <p:nvPr/>
        </p:nvSpPr>
        <p:spPr>
          <a:xfrm>
            <a:off x="822960" y="2651760"/>
            <a:ext cx="274320" cy="365760"/>
          </a:xfrm>
          <a:prstGeom prst="rect">
            <a:avLst/>
          </a:prstGeom>
          <a:noFill/>
          <a:ln/>
        </p:spPr>
        <p:txBody>
          <a:bodyPr wrap="square" lIns="0" tIns="0" rIns="0" bIns="0" rtlCol="0" anchor="ctr"/>
          <a:lstStyle/>
          <a:p>
            <a:pPr indent="0" marL="0">
              <a:buNone/>
            </a:pPr>
            <a:r>
              <a:rPr lang="en-US" sz="1300" b="1" dirty="0">
                <a:solidFill>
                  <a:srgbClr val="2FA97E"/>
                </a:solidFill>
                <a:latin typeface="Calibri" pitchFamily="34" charset="0"/>
                <a:ea typeface="Calibri" pitchFamily="34" charset="-122"/>
                <a:cs typeface="Calibri" pitchFamily="34" charset="-120"/>
              </a:rPr>
              <a:t>✓</a:t>
            </a:r>
            <a:endParaRPr lang="en-US" sz="1300" dirty="0"/>
          </a:p>
        </p:txBody>
      </p:sp>
      <p:sp>
        <p:nvSpPr>
          <p:cNvPr id="9" name="Text 7"/>
          <p:cNvSpPr txBox="1"/>
          <p:nvPr/>
        </p:nvSpPr>
        <p:spPr>
          <a:xfrm>
            <a:off x="1143000" y="2651760"/>
            <a:ext cx="4663440" cy="365760"/>
          </a:xfrm>
          <a:prstGeom prst="rect">
            <a:avLst/>
          </a:prstGeom>
          <a:noFill/>
          <a:ln/>
        </p:spPr>
        <p:txBody>
          <a:bodyPr wrap="square" lIns="0" tIns="0" rIns="0" bIns="0" rtlCol="0" anchor="ctr"/>
          <a:lstStyle/>
          <a:p>
            <a:pPr indent="0" marL="0">
              <a:buNone/>
            </a:pPr>
            <a:r>
              <a:rPr lang="en-US" sz="1200" dirty="0">
                <a:solidFill>
                  <a:srgbClr val="1F4A3A"/>
                </a:solidFill>
                <a:latin typeface="Calibri" pitchFamily="34" charset="0"/>
                <a:ea typeface="Calibri" pitchFamily="34" charset="-122"/>
                <a:cs typeface="Calibri" pitchFamily="34" charset="-120"/>
              </a:rPr>
              <a:t>Issue ₹500 meal voucher &amp; lounge access</a:t>
            </a:r>
            <a:endParaRPr lang="en-US" sz="1200" dirty="0"/>
          </a:p>
        </p:txBody>
      </p:sp>
      <p:sp>
        <p:nvSpPr>
          <p:cNvPr id="10" name="Text 8"/>
          <p:cNvSpPr txBox="1"/>
          <p:nvPr/>
        </p:nvSpPr>
        <p:spPr>
          <a:xfrm>
            <a:off x="822960" y="3200400"/>
            <a:ext cx="274320" cy="365760"/>
          </a:xfrm>
          <a:prstGeom prst="rect">
            <a:avLst/>
          </a:prstGeom>
          <a:noFill/>
          <a:ln/>
        </p:spPr>
        <p:txBody>
          <a:bodyPr wrap="square" lIns="0" tIns="0" rIns="0" bIns="0" rtlCol="0" anchor="ctr"/>
          <a:lstStyle/>
          <a:p>
            <a:pPr indent="0" marL="0">
              <a:buNone/>
            </a:pPr>
            <a:r>
              <a:rPr lang="en-US" sz="1300" b="1" dirty="0">
                <a:solidFill>
                  <a:srgbClr val="2FA97E"/>
                </a:solidFill>
                <a:latin typeface="Calibri" pitchFamily="34" charset="0"/>
                <a:ea typeface="Calibri" pitchFamily="34" charset="-122"/>
                <a:cs typeface="Calibri" pitchFamily="34" charset="-120"/>
              </a:rPr>
              <a:t>✓</a:t>
            </a:r>
            <a:endParaRPr lang="en-US" sz="1300" dirty="0"/>
          </a:p>
        </p:txBody>
      </p:sp>
      <p:sp>
        <p:nvSpPr>
          <p:cNvPr id="11" name="Text 9"/>
          <p:cNvSpPr txBox="1"/>
          <p:nvPr/>
        </p:nvSpPr>
        <p:spPr>
          <a:xfrm>
            <a:off x="1143000" y="3200400"/>
            <a:ext cx="4663440" cy="365760"/>
          </a:xfrm>
          <a:prstGeom prst="rect">
            <a:avLst/>
          </a:prstGeom>
          <a:noFill/>
          <a:ln/>
        </p:spPr>
        <p:txBody>
          <a:bodyPr wrap="square" lIns="0" tIns="0" rIns="0" bIns="0" rtlCol="0" anchor="ctr"/>
          <a:lstStyle/>
          <a:p>
            <a:pPr indent="0" marL="0">
              <a:buNone/>
            </a:pPr>
            <a:r>
              <a:rPr lang="en-US" sz="1200" dirty="0">
                <a:solidFill>
                  <a:srgbClr val="1F4A3A"/>
                </a:solidFill>
                <a:latin typeface="Calibri" pitchFamily="34" charset="0"/>
                <a:ea typeface="Calibri" pitchFamily="34" charset="-122"/>
                <a:cs typeface="Calibri" pitchFamily="34" charset="-120"/>
              </a:rPr>
              <a:t>Arrange hotel for delayed hours (&gt;5h delay)</a:t>
            </a:r>
            <a:endParaRPr lang="en-US" sz="1200" dirty="0"/>
          </a:p>
        </p:txBody>
      </p:sp>
      <p:sp>
        <p:nvSpPr>
          <p:cNvPr id="12" name="Text 10"/>
          <p:cNvSpPr txBox="1"/>
          <p:nvPr/>
        </p:nvSpPr>
        <p:spPr>
          <a:xfrm>
            <a:off x="822960" y="3749040"/>
            <a:ext cx="274320" cy="365760"/>
          </a:xfrm>
          <a:prstGeom prst="rect">
            <a:avLst/>
          </a:prstGeom>
          <a:noFill/>
          <a:ln/>
        </p:spPr>
        <p:txBody>
          <a:bodyPr wrap="square" lIns="0" tIns="0" rIns="0" bIns="0" rtlCol="0" anchor="ctr"/>
          <a:lstStyle/>
          <a:p>
            <a:pPr indent="0" marL="0">
              <a:buNone/>
            </a:pPr>
            <a:r>
              <a:rPr lang="en-US" sz="1300" b="1" dirty="0">
                <a:solidFill>
                  <a:srgbClr val="2FA97E"/>
                </a:solidFill>
                <a:latin typeface="Calibri" pitchFamily="34" charset="0"/>
                <a:ea typeface="Calibri" pitchFamily="34" charset="-122"/>
                <a:cs typeface="Calibri" pitchFamily="34" charset="-120"/>
              </a:rPr>
              <a:t>✓</a:t>
            </a:r>
            <a:endParaRPr lang="en-US" sz="1300" dirty="0"/>
          </a:p>
        </p:txBody>
      </p:sp>
      <p:sp>
        <p:nvSpPr>
          <p:cNvPr id="13" name="Text 11"/>
          <p:cNvSpPr txBox="1"/>
          <p:nvPr/>
        </p:nvSpPr>
        <p:spPr>
          <a:xfrm>
            <a:off x="1143000" y="3749040"/>
            <a:ext cx="4663440" cy="365760"/>
          </a:xfrm>
          <a:prstGeom prst="rect">
            <a:avLst/>
          </a:prstGeom>
          <a:noFill/>
          <a:ln/>
        </p:spPr>
        <p:txBody>
          <a:bodyPr wrap="square" lIns="0" tIns="0" rIns="0" bIns="0" rtlCol="0" anchor="ctr"/>
          <a:lstStyle/>
          <a:p>
            <a:pPr indent="0" marL="0">
              <a:buNone/>
            </a:pPr>
            <a:r>
              <a:rPr lang="en-US" sz="1200" dirty="0">
                <a:solidFill>
                  <a:srgbClr val="1F4A3A"/>
                </a:solidFill>
                <a:latin typeface="Calibri" pitchFamily="34" charset="0"/>
                <a:ea typeface="Calibri" pitchFamily="34" charset="-122"/>
                <a:cs typeface="Calibri" pitchFamily="34" charset="-120"/>
              </a:rPr>
              <a:t>Initiate full refund for airline cancellations</a:t>
            </a:r>
            <a:endParaRPr lang="en-US" sz="1200" dirty="0"/>
          </a:p>
        </p:txBody>
      </p:sp>
      <p:sp>
        <p:nvSpPr>
          <p:cNvPr id="14" name="Text 12"/>
          <p:cNvSpPr txBox="1"/>
          <p:nvPr/>
        </p:nvSpPr>
        <p:spPr>
          <a:xfrm>
            <a:off x="822960" y="4297680"/>
            <a:ext cx="274320" cy="365760"/>
          </a:xfrm>
          <a:prstGeom prst="rect">
            <a:avLst/>
          </a:prstGeom>
          <a:noFill/>
          <a:ln/>
        </p:spPr>
        <p:txBody>
          <a:bodyPr wrap="square" lIns="0" tIns="0" rIns="0" bIns="0" rtlCol="0" anchor="ctr"/>
          <a:lstStyle/>
          <a:p>
            <a:pPr indent="0" marL="0">
              <a:buNone/>
            </a:pPr>
            <a:r>
              <a:rPr lang="en-US" sz="1300" b="1" dirty="0">
                <a:solidFill>
                  <a:srgbClr val="2FA97E"/>
                </a:solidFill>
                <a:latin typeface="Calibri" pitchFamily="34" charset="0"/>
                <a:ea typeface="Calibri" pitchFamily="34" charset="-122"/>
                <a:cs typeface="Calibri" pitchFamily="34" charset="-120"/>
              </a:rPr>
              <a:t>✓</a:t>
            </a:r>
            <a:endParaRPr lang="en-US" sz="1300" dirty="0"/>
          </a:p>
        </p:txBody>
      </p:sp>
      <p:sp>
        <p:nvSpPr>
          <p:cNvPr id="15" name="Text 13"/>
          <p:cNvSpPr txBox="1"/>
          <p:nvPr/>
        </p:nvSpPr>
        <p:spPr>
          <a:xfrm>
            <a:off x="1143000" y="4297680"/>
            <a:ext cx="4663440" cy="365760"/>
          </a:xfrm>
          <a:prstGeom prst="rect">
            <a:avLst/>
          </a:prstGeom>
          <a:noFill/>
          <a:ln/>
        </p:spPr>
        <p:txBody>
          <a:bodyPr wrap="square" lIns="0" tIns="0" rIns="0" bIns="0" rtlCol="0" anchor="ctr"/>
          <a:lstStyle/>
          <a:p>
            <a:pPr indent="0" marL="0">
              <a:buNone/>
            </a:pPr>
            <a:r>
              <a:rPr lang="en-US" sz="1200" dirty="0">
                <a:solidFill>
                  <a:srgbClr val="1F4A3A"/>
                </a:solidFill>
                <a:latin typeface="Calibri" pitchFamily="34" charset="0"/>
                <a:ea typeface="Calibri" pitchFamily="34" charset="-122"/>
                <a:cs typeface="Calibri" pitchFamily="34" charset="-120"/>
              </a:rPr>
              <a:t>Provide real-time flight status &amp; PNR info</a:t>
            </a:r>
            <a:endParaRPr lang="en-US" sz="1200" dirty="0"/>
          </a:p>
        </p:txBody>
      </p:sp>
      <p:sp>
        <p:nvSpPr>
          <p:cNvPr id="16" name="Shape 14"/>
          <p:cNvSpPr/>
          <p:nvPr/>
        </p:nvSpPr>
        <p:spPr>
          <a:xfrm>
            <a:off x="6217920" y="1508760"/>
            <a:ext cx="5394960" cy="3566160"/>
          </a:xfrm>
          <a:prstGeom prst="roundRect">
            <a:avLst>
              <a:gd name="adj" fmla="val 2051"/>
            </a:avLst>
          </a:prstGeom>
          <a:solidFill>
            <a:srgbClr val="FCEDED"/>
          </a:solidFill>
          <a:ln/>
        </p:spPr>
      </p:sp>
      <p:sp>
        <p:nvSpPr>
          <p:cNvPr id="17" name="Text 15"/>
          <p:cNvSpPr txBox="1"/>
          <p:nvPr/>
        </p:nvSpPr>
        <p:spPr>
          <a:xfrm>
            <a:off x="6492240" y="1691640"/>
            <a:ext cx="5029200" cy="274320"/>
          </a:xfrm>
          <a:prstGeom prst="rect">
            <a:avLst/>
          </a:prstGeom>
          <a:noFill/>
          <a:ln/>
        </p:spPr>
        <p:txBody>
          <a:bodyPr wrap="square" lIns="0" tIns="0" rIns="0" bIns="0" rtlCol="0" anchor="ctr"/>
          <a:lstStyle/>
          <a:p>
            <a:pPr indent="0" marL="0">
              <a:buNone/>
            </a:pPr>
            <a:r>
              <a:rPr lang="en-US" sz="1200" b="1" spc="100" kern="0" dirty="0">
                <a:solidFill>
                  <a:srgbClr val="E14B4B"/>
                </a:solidFill>
                <a:latin typeface="Calibri" pitchFamily="34" charset="0"/>
                <a:ea typeface="Calibri" pitchFamily="34" charset="-122"/>
                <a:cs typeface="Calibri" pitchFamily="34" charset="-120"/>
              </a:rPr>
              <a:t>PROHIBITED — MANDATORY ESCALATION</a:t>
            </a:r>
            <a:endParaRPr lang="en-US" sz="1200" dirty="0"/>
          </a:p>
        </p:txBody>
      </p:sp>
      <p:sp>
        <p:nvSpPr>
          <p:cNvPr id="18" name="Text 16"/>
          <p:cNvSpPr txBox="1"/>
          <p:nvPr/>
        </p:nvSpPr>
        <p:spPr>
          <a:xfrm>
            <a:off x="6492240" y="2103120"/>
            <a:ext cx="274320" cy="365760"/>
          </a:xfrm>
          <a:prstGeom prst="rect">
            <a:avLst/>
          </a:prstGeom>
          <a:noFill/>
          <a:ln/>
        </p:spPr>
        <p:txBody>
          <a:bodyPr wrap="square" lIns="0" tIns="0" rIns="0" bIns="0" rtlCol="0" anchor="ctr"/>
          <a:lstStyle/>
          <a:p>
            <a:pPr indent="0" marL="0">
              <a:buNone/>
            </a:pPr>
            <a:r>
              <a:rPr lang="en-US" sz="1300" b="1" dirty="0">
                <a:solidFill>
                  <a:srgbClr val="E14B4B"/>
                </a:solidFill>
                <a:latin typeface="Calibri" pitchFamily="34" charset="0"/>
                <a:ea typeface="Calibri" pitchFamily="34" charset="-122"/>
                <a:cs typeface="Calibri" pitchFamily="34" charset="-120"/>
              </a:rPr>
              <a:t>✗</a:t>
            </a:r>
            <a:endParaRPr lang="en-US" sz="1300" dirty="0"/>
          </a:p>
        </p:txBody>
      </p:sp>
      <p:sp>
        <p:nvSpPr>
          <p:cNvPr id="19" name="Text 17"/>
          <p:cNvSpPr txBox="1"/>
          <p:nvPr/>
        </p:nvSpPr>
        <p:spPr>
          <a:xfrm>
            <a:off x="6812280" y="2103120"/>
            <a:ext cx="4663440" cy="365760"/>
          </a:xfrm>
          <a:prstGeom prst="rect">
            <a:avLst/>
          </a:prstGeom>
          <a:noFill/>
          <a:ln/>
        </p:spPr>
        <p:txBody>
          <a:bodyPr wrap="square" lIns="0" tIns="0" rIns="0" bIns="0" rtlCol="0" anchor="ctr"/>
          <a:lstStyle/>
          <a:p>
            <a:pPr indent="0" marL="0">
              <a:buNone/>
            </a:pPr>
            <a:r>
              <a:rPr lang="en-US" sz="1200" dirty="0">
                <a:solidFill>
                  <a:srgbClr val="5A1F1F"/>
                </a:solidFill>
                <a:latin typeface="Calibri" pitchFamily="34" charset="0"/>
                <a:ea typeface="Calibri" pitchFamily="34" charset="-122"/>
                <a:cs typeface="Calibri" pitchFamily="34" charset="-120"/>
              </a:rPr>
              <a:t>Approving compensation beyond policy limits</a:t>
            </a:r>
            <a:endParaRPr lang="en-US" sz="1200" dirty="0"/>
          </a:p>
        </p:txBody>
      </p:sp>
      <p:sp>
        <p:nvSpPr>
          <p:cNvPr id="20" name="Text 18"/>
          <p:cNvSpPr txBox="1"/>
          <p:nvPr/>
        </p:nvSpPr>
        <p:spPr>
          <a:xfrm>
            <a:off x="6492240" y="2651760"/>
            <a:ext cx="274320" cy="365760"/>
          </a:xfrm>
          <a:prstGeom prst="rect">
            <a:avLst/>
          </a:prstGeom>
          <a:noFill/>
          <a:ln/>
        </p:spPr>
        <p:txBody>
          <a:bodyPr wrap="square" lIns="0" tIns="0" rIns="0" bIns="0" rtlCol="0" anchor="ctr"/>
          <a:lstStyle/>
          <a:p>
            <a:pPr indent="0" marL="0">
              <a:buNone/>
            </a:pPr>
            <a:r>
              <a:rPr lang="en-US" sz="1300" b="1" dirty="0">
                <a:solidFill>
                  <a:srgbClr val="E14B4B"/>
                </a:solidFill>
                <a:latin typeface="Calibri" pitchFamily="34" charset="0"/>
                <a:ea typeface="Calibri" pitchFamily="34" charset="-122"/>
                <a:cs typeface="Calibri" pitchFamily="34" charset="-120"/>
              </a:rPr>
              <a:t>✗</a:t>
            </a:r>
            <a:endParaRPr lang="en-US" sz="1300" dirty="0"/>
          </a:p>
        </p:txBody>
      </p:sp>
      <p:sp>
        <p:nvSpPr>
          <p:cNvPr id="21" name="Text 19"/>
          <p:cNvSpPr txBox="1"/>
          <p:nvPr/>
        </p:nvSpPr>
        <p:spPr>
          <a:xfrm>
            <a:off x="6812280" y="2651760"/>
            <a:ext cx="4663440" cy="365760"/>
          </a:xfrm>
          <a:prstGeom prst="rect">
            <a:avLst/>
          </a:prstGeom>
          <a:noFill/>
          <a:ln/>
        </p:spPr>
        <p:txBody>
          <a:bodyPr wrap="square" lIns="0" tIns="0" rIns="0" bIns="0" rtlCol="0" anchor="ctr"/>
          <a:lstStyle/>
          <a:p>
            <a:pPr indent="0" marL="0">
              <a:buNone/>
            </a:pPr>
            <a:r>
              <a:rPr lang="en-US" sz="1200" dirty="0">
                <a:solidFill>
                  <a:srgbClr val="5A1F1F"/>
                </a:solidFill>
                <a:latin typeface="Calibri" pitchFamily="34" charset="0"/>
                <a:ea typeface="Calibri" pitchFamily="34" charset="-122"/>
                <a:cs typeface="Calibri" pitchFamily="34" charset="-120"/>
              </a:rPr>
              <a:t>Waiving fare differences above ₹1,500</a:t>
            </a:r>
            <a:endParaRPr lang="en-US" sz="1200" dirty="0"/>
          </a:p>
        </p:txBody>
      </p:sp>
      <p:sp>
        <p:nvSpPr>
          <p:cNvPr id="22" name="Text 20"/>
          <p:cNvSpPr txBox="1"/>
          <p:nvPr/>
        </p:nvSpPr>
        <p:spPr>
          <a:xfrm>
            <a:off x="6492240" y="3200400"/>
            <a:ext cx="274320" cy="365760"/>
          </a:xfrm>
          <a:prstGeom prst="rect">
            <a:avLst/>
          </a:prstGeom>
          <a:noFill/>
          <a:ln/>
        </p:spPr>
        <p:txBody>
          <a:bodyPr wrap="square" lIns="0" tIns="0" rIns="0" bIns="0" rtlCol="0" anchor="ctr"/>
          <a:lstStyle/>
          <a:p>
            <a:pPr indent="0" marL="0">
              <a:buNone/>
            </a:pPr>
            <a:r>
              <a:rPr lang="en-US" sz="1300" b="1" dirty="0">
                <a:solidFill>
                  <a:srgbClr val="E14B4B"/>
                </a:solidFill>
                <a:latin typeface="Calibri" pitchFamily="34" charset="0"/>
                <a:ea typeface="Calibri" pitchFamily="34" charset="-122"/>
                <a:cs typeface="Calibri" pitchFamily="34" charset="-120"/>
              </a:rPr>
              <a:t>✗</a:t>
            </a:r>
            <a:endParaRPr lang="en-US" sz="1300" dirty="0"/>
          </a:p>
        </p:txBody>
      </p:sp>
      <p:sp>
        <p:nvSpPr>
          <p:cNvPr id="23" name="Text 21"/>
          <p:cNvSpPr txBox="1"/>
          <p:nvPr/>
        </p:nvSpPr>
        <p:spPr>
          <a:xfrm>
            <a:off x="6812280" y="3200400"/>
            <a:ext cx="4663440" cy="365760"/>
          </a:xfrm>
          <a:prstGeom prst="rect">
            <a:avLst/>
          </a:prstGeom>
          <a:noFill/>
          <a:ln/>
        </p:spPr>
        <p:txBody>
          <a:bodyPr wrap="square" lIns="0" tIns="0" rIns="0" bIns="0" rtlCol="0" anchor="ctr"/>
          <a:lstStyle/>
          <a:p>
            <a:pPr indent="0" marL="0">
              <a:buNone/>
            </a:pPr>
            <a:r>
              <a:rPr lang="en-US" sz="1200" dirty="0">
                <a:solidFill>
                  <a:srgbClr val="5A1F1F"/>
                </a:solidFill>
                <a:latin typeface="Calibri" pitchFamily="34" charset="0"/>
                <a:ea typeface="Calibri" pitchFamily="34" charset="-122"/>
                <a:cs typeface="Calibri" pitchFamily="34" charset="-120"/>
              </a:rPr>
              <a:t>Exceptions for passenger-caused missed flights</a:t>
            </a:r>
            <a:endParaRPr lang="en-US" sz="1200" dirty="0"/>
          </a:p>
        </p:txBody>
      </p:sp>
      <p:sp>
        <p:nvSpPr>
          <p:cNvPr id="24" name="Text 22"/>
          <p:cNvSpPr txBox="1"/>
          <p:nvPr/>
        </p:nvSpPr>
        <p:spPr>
          <a:xfrm>
            <a:off x="6492240" y="3749040"/>
            <a:ext cx="274320" cy="365760"/>
          </a:xfrm>
          <a:prstGeom prst="rect">
            <a:avLst/>
          </a:prstGeom>
          <a:noFill/>
          <a:ln/>
        </p:spPr>
        <p:txBody>
          <a:bodyPr wrap="square" lIns="0" tIns="0" rIns="0" bIns="0" rtlCol="0" anchor="ctr"/>
          <a:lstStyle/>
          <a:p>
            <a:pPr indent="0" marL="0">
              <a:buNone/>
            </a:pPr>
            <a:r>
              <a:rPr lang="en-US" sz="1300" b="1" dirty="0">
                <a:solidFill>
                  <a:srgbClr val="E14B4B"/>
                </a:solidFill>
                <a:latin typeface="Calibri" pitchFamily="34" charset="0"/>
                <a:ea typeface="Calibri" pitchFamily="34" charset="-122"/>
                <a:cs typeface="Calibri" pitchFamily="34" charset="-120"/>
              </a:rPr>
              <a:t>✗</a:t>
            </a:r>
            <a:endParaRPr lang="en-US" sz="1300" dirty="0"/>
          </a:p>
        </p:txBody>
      </p:sp>
      <p:sp>
        <p:nvSpPr>
          <p:cNvPr id="25" name="Text 23"/>
          <p:cNvSpPr txBox="1"/>
          <p:nvPr/>
        </p:nvSpPr>
        <p:spPr>
          <a:xfrm>
            <a:off x="6812280" y="3749040"/>
            <a:ext cx="4663440" cy="365760"/>
          </a:xfrm>
          <a:prstGeom prst="rect">
            <a:avLst/>
          </a:prstGeom>
          <a:noFill/>
          <a:ln/>
        </p:spPr>
        <p:txBody>
          <a:bodyPr wrap="square" lIns="0" tIns="0" rIns="0" bIns="0" rtlCol="0" anchor="ctr"/>
          <a:lstStyle/>
          <a:p>
            <a:pPr indent="0" marL="0">
              <a:buNone/>
            </a:pPr>
            <a:r>
              <a:rPr lang="en-US" sz="1200" dirty="0">
                <a:solidFill>
                  <a:srgbClr val="5A1F1F"/>
                </a:solidFill>
                <a:latin typeface="Calibri" pitchFamily="34" charset="0"/>
                <a:ea typeface="Calibri" pitchFamily="34" charset="-122"/>
                <a:cs typeface="Calibri" pitchFamily="34" charset="-120"/>
              </a:rPr>
              <a:t>Changing payment method for refunds</a:t>
            </a:r>
            <a:endParaRPr lang="en-US" sz="1200" dirty="0"/>
          </a:p>
        </p:txBody>
      </p:sp>
      <p:sp>
        <p:nvSpPr>
          <p:cNvPr id="26" name="Text 24"/>
          <p:cNvSpPr txBox="1"/>
          <p:nvPr/>
        </p:nvSpPr>
        <p:spPr>
          <a:xfrm>
            <a:off x="6492240" y="4297680"/>
            <a:ext cx="274320" cy="365760"/>
          </a:xfrm>
          <a:prstGeom prst="rect">
            <a:avLst/>
          </a:prstGeom>
          <a:noFill/>
          <a:ln/>
        </p:spPr>
        <p:txBody>
          <a:bodyPr wrap="square" lIns="0" tIns="0" rIns="0" bIns="0" rtlCol="0" anchor="ctr"/>
          <a:lstStyle/>
          <a:p>
            <a:pPr indent="0" marL="0">
              <a:buNone/>
            </a:pPr>
            <a:r>
              <a:rPr lang="en-US" sz="1300" b="1" dirty="0">
                <a:solidFill>
                  <a:srgbClr val="E14B4B"/>
                </a:solidFill>
                <a:latin typeface="Calibri" pitchFamily="34" charset="0"/>
                <a:ea typeface="Calibri" pitchFamily="34" charset="-122"/>
                <a:cs typeface="Calibri" pitchFamily="34" charset="-120"/>
              </a:rPr>
              <a:t>✗</a:t>
            </a:r>
            <a:endParaRPr lang="en-US" sz="1300" dirty="0"/>
          </a:p>
        </p:txBody>
      </p:sp>
      <p:sp>
        <p:nvSpPr>
          <p:cNvPr id="27" name="Text 25"/>
          <p:cNvSpPr txBox="1"/>
          <p:nvPr/>
        </p:nvSpPr>
        <p:spPr>
          <a:xfrm>
            <a:off x="6812280" y="4297680"/>
            <a:ext cx="4663440" cy="365760"/>
          </a:xfrm>
          <a:prstGeom prst="rect">
            <a:avLst/>
          </a:prstGeom>
          <a:noFill/>
          <a:ln/>
        </p:spPr>
        <p:txBody>
          <a:bodyPr wrap="square" lIns="0" tIns="0" rIns="0" bIns="0" rtlCol="0" anchor="ctr"/>
          <a:lstStyle/>
          <a:p>
            <a:pPr indent="0" marL="0">
              <a:buNone/>
            </a:pPr>
            <a:r>
              <a:rPr lang="en-US" sz="1200" dirty="0">
                <a:solidFill>
                  <a:srgbClr val="5A1F1F"/>
                </a:solidFill>
                <a:latin typeface="Calibri" pitchFamily="34" charset="0"/>
                <a:ea typeface="Calibri" pitchFamily="34" charset="-122"/>
                <a:cs typeface="Calibri" pitchFamily="34" charset="-120"/>
              </a:rPr>
              <a:t>Handling threats of legal action / formal complaints</a:t>
            </a:r>
            <a:endParaRPr lang="en-US" sz="1200" dirty="0"/>
          </a:p>
        </p:txBody>
      </p:sp>
      <p:sp>
        <p:nvSpPr>
          <p:cNvPr id="28" name="Shape 26"/>
          <p:cNvSpPr/>
          <p:nvPr/>
        </p:nvSpPr>
        <p:spPr>
          <a:xfrm>
            <a:off x="548640" y="5257800"/>
            <a:ext cx="11064240" cy="731520"/>
          </a:xfrm>
          <a:prstGeom prst="roundRect">
            <a:avLst>
              <a:gd name="adj" fmla="val 10000"/>
            </a:avLst>
          </a:prstGeom>
          <a:solidFill>
            <a:srgbClr val="1E2761"/>
          </a:solidFill>
          <a:ln/>
        </p:spPr>
      </p:sp>
      <p:sp>
        <p:nvSpPr>
          <p:cNvPr id="29" name="Text 27"/>
          <p:cNvSpPr txBox="1"/>
          <p:nvPr/>
        </p:nvSpPr>
        <p:spPr>
          <a:xfrm>
            <a:off x="822960" y="5257800"/>
            <a:ext cx="10515600" cy="731520"/>
          </a:xfrm>
          <a:prstGeom prst="rect">
            <a:avLst/>
          </a:prstGeom>
          <a:noFill/>
          <a:ln/>
        </p:spPr>
        <p:txBody>
          <a:bodyPr wrap="square" lIns="0" tIns="0" rIns="0" bIns="0" rtlCol="0" anchor="ctr"/>
          <a:lstStyle/>
          <a:p>
            <a:pPr algn="ctr" indent="0" marL="0">
              <a:buNone/>
            </a:pPr>
            <a:r>
              <a:rPr lang="en-US" sz="1200" i="1" dirty="0">
                <a:solidFill>
                  <a:srgbClr val="FFFFFF"/>
                </a:solidFill>
                <a:latin typeface="Calibri" pitchFamily="34" charset="0"/>
                <a:ea typeface="Calibri" pitchFamily="34" charset="-122"/>
                <a:cs typeface="Calibri" pitchFamily="34" charset="-120"/>
              </a:rPr>
              <a:t>Real-time keyword interception — "lawyer", "court", "legal action", "formal complaint" — triggers an immediate pulsing supervisor escalation banner and audit trail.</a:t>
            </a:r>
            <a:endParaRPr lang="en-US" sz="1200" dirty="0"/>
          </a:p>
        </p:txBody>
      </p:sp>
      <p:sp>
        <p:nvSpPr>
          <p:cNvPr id="30" name="Text 28"/>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8C97AE"/>
                </a:solidFill>
                <a:latin typeface="Calibri" pitchFamily="34" charset="0"/>
                <a:ea typeface="Calibri" pitchFamily="34" charset="-122"/>
                <a:cs typeface="Calibri" pitchFamily="34" charset="-120"/>
              </a:rPr>
              <a:t>SkyAssist — AIONOS Agentic AI Factory · Assignment 3</a:t>
            </a:r>
            <a:endParaRPr lang="en-US" sz="900" dirty="0"/>
          </a:p>
        </p:txBody>
      </p:sp>
      <p:sp>
        <p:nvSpPr>
          <p:cNvPr id="31" name="Text 29"/>
          <p:cNvSpPr txBox="1"/>
          <p:nvPr/>
        </p:nvSpPr>
        <p:spPr>
          <a:xfrm>
            <a:off x="11365992" y="6473952"/>
            <a:ext cx="457200" cy="274320"/>
          </a:xfrm>
          <a:prstGeom prst="rect">
            <a:avLst/>
          </a:prstGeom>
          <a:noFill/>
          <a:ln/>
        </p:spPr>
        <p:txBody>
          <a:bodyPr wrap="square" lIns="0" tIns="0" rIns="0" bIns="0" rtlCol="0" anchor="ctr"/>
          <a:lstStyle/>
          <a:p>
            <a:pPr algn="r" indent="0" marL="0">
              <a:buNone/>
            </a:pPr>
            <a:r>
              <a:rPr lang="en-US" sz="900" dirty="0">
                <a:solidFill>
                  <a:srgbClr val="8C97AE"/>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B"/>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5A6B8C"/>
                </a:solidFill>
                <a:latin typeface="Calibri" pitchFamily="34" charset="0"/>
                <a:ea typeface="Calibri" pitchFamily="34" charset="-122"/>
                <a:cs typeface="Calibri" pitchFamily="34" charset="-120"/>
              </a:rPr>
              <a:t>LIST OF AI TOOLS USED &amp; HOW</a:t>
            </a:r>
            <a:endParaRPr lang="en-US" sz="1200" dirty="0"/>
          </a:p>
        </p:txBody>
      </p:sp>
      <p:sp>
        <p:nvSpPr>
          <p:cNvPr id="3" name="Text 1"/>
          <p:cNvSpPr txBox="1"/>
          <p:nvPr/>
        </p:nvSpPr>
        <p:spPr>
          <a:xfrm>
            <a:off x="548640" y="621792"/>
            <a:ext cx="109728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AI Tools &amp; Engineering Methodology</a:t>
            </a:r>
            <a:endParaRPr lang="en-US" sz="3000" dirty="0"/>
          </a:p>
        </p:txBody>
      </p:sp>
      <p:sp>
        <p:nvSpPr>
          <p:cNvPr id="4" name="Shape 2"/>
          <p:cNvSpPr/>
          <p:nvPr/>
        </p:nvSpPr>
        <p:spPr>
          <a:xfrm>
            <a:off x="548640" y="1554480"/>
            <a:ext cx="5349240" cy="1737360"/>
          </a:xfrm>
          <a:prstGeom prst="roundRect">
            <a:avLst>
              <a:gd name="adj" fmla="val 4211"/>
            </a:avLst>
          </a:prstGeom>
          <a:solidFill>
            <a:srgbClr val="FFFFFF"/>
          </a:solidFill>
          <a:ln/>
          <a:effectLst>
            <a:outerShdw sx="100000" sy="100000" kx="0" ky="0" algn="bl" rotWithShape="0" blurRad="101600" dist="38100" dir="5400000">
              <a:srgbClr val="666666">
                <a:alpha val="15000"/>
              </a:srgbClr>
            </a:outerShdw>
          </a:effectLst>
        </p:spPr>
      </p:sp>
      <p:sp>
        <p:nvSpPr>
          <p:cNvPr id="5" name="Shape 3"/>
          <p:cNvSpPr/>
          <p:nvPr/>
        </p:nvSpPr>
        <p:spPr>
          <a:xfrm>
            <a:off x="777240" y="1783080"/>
            <a:ext cx="411480" cy="411480"/>
          </a:xfrm>
          <a:prstGeom prst="roundRect">
            <a:avLst>
              <a:gd name="adj" fmla="val 48889"/>
            </a:avLst>
          </a:prstGeom>
          <a:solidFill>
            <a:srgbClr val="1E2761"/>
          </a:solidFill>
          <a:ln/>
        </p:spPr>
      </p:sp>
      <p:sp>
        <p:nvSpPr>
          <p:cNvPr id="6" name="Text 4"/>
          <p:cNvSpPr txBox="1"/>
          <p:nvPr/>
        </p:nvSpPr>
        <p:spPr>
          <a:xfrm>
            <a:off x="1371600" y="1737360"/>
            <a:ext cx="4297680" cy="5029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Groq Cloud API — GPT-OSS 120B</a:t>
            </a:r>
            <a:endParaRPr lang="en-US" sz="1350" dirty="0"/>
          </a:p>
        </p:txBody>
      </p:sp>
      <p:sp>
        <p:nvSpPr>
          <p:cNvPr id="7" name="Text 5"/>
          <p:cNvSpPr txBox="1"/>
          <p:nvPr/>
        </p:nvSpPr>
        <p:spPr>
          <a:xfrm>
            <a:off x="822960" y="2331720"/>
            <a:ext cx="4846320" cy="868680"/>
          </a:xfrm>
          <a:prstGeom prst="rect">
            <a:avLst/>
          </a:prstGeom>
          <a:noFill/>
          <a:ln/>
        </p:spPr>
        <p:txBody>
          <a:bodyPr wrap="square" lIns="0" tIns="0" rIns="0" bIns="0" rtlCol="0" anchor="ctr"/>
          <a:lstStyle/>
          <a:p>
            <a:pPr indent="0" marL="0">
              <a:lnSpc>
                <a:spcPct val="115000"/>
              </a:lnSpc>
              <a:buNone/>
            </a:pPr>
            <a:r>
              <a:rPr lang="en-US" sz="1080" dirty="0">
                <a:solidFill>
                  <a:srgbClr val="44507A"/>
                </a:solidFill>
                <a:latin typeface="Calibri" pitchFamily="34" charset="0"/>
                <a:ea typeface="Calibri" pitchFamily="34" charset="-122"/>
                <a:cs typeface="Calibri" pitchFamily="34" charset="-120"/>
              </a:rPr>
              <a:t>Primary reasoning engine. ~300 tokens/sec, temperature 0.2, structured JSON output for deterministic schema adherence.</a:t>
            </a:r>
            <a:endParaRPr lang="en-US" sz="1080" dirty="0"/>
          </a:p>
        </p:txBody>
      </p:sp>
      <p:sp>
        <p:nvSpPr>
          <p:cNvPr id="8" name="Shape 6"/>
          <p:cNvSpPr/>
          <p:nvPr/>
        </p:nvSpPr>
        <p:spPr>
          <a:xfrm>
            <a:off x="6172200" y="1554480"/>
            <a:ext cx="5349240" cy="1737360"/>
          </a:xfrm>
          <a:prstGeom prst="roundRect">
            <a:avLst>
              <a:gd name="adj" fmla="val 4211"/>
            </a:avLst>
          </a:prstGeom>
          <a:solidFill>
            <a:srgbClr val="FFFFFF"/>
          </a:solidFill>
          <a:ln/>
          <a:effectLst>
            <a:outerShdw sx="100000" sy="100000" kx="0" ky="0" algn="bl" rotWithShape="0" blurRad="101600" dist="38100" dir="5400000">
              <a:srgbClr val="666666">
                <a:alpha val="15000"/>
              </a:srgbClr>
            </a:outerShdw>
          </a:effectLst>
        </p:spPr>
      </p:sp>
      <p:sp>
        <p:nvSpPr>
          <p:cNvPr id="9" name="Shape 7"/>
          <p:cNvSpPr/>
          <p:nvPr/>
        </p:nvSpPr>
        <p:spPr>
          <a:xfrm>
            <a:off x="6400800" y="1783080"/>
            <a:ext cx="411480" cy="411480"/>
          </a:xfrm>
          <a:prstGeom prst="roundRect">
            <a:avLst>
              <a:gd name="adj" fmla="val 48889"/>
            </a:avLst>
          </a:prstGeom>
          <a:solidFill>
            <a:srgbClr val="5A6B8C"/>
          </a:solidFill>
          <a:ln/>
        </p:spPr>
      </p:sp>
      <p:sp>
        <p:nvSpPr>
          <p:cNvPr id="10" name="Text 8"/>
          <p:cNvSpPr txBox="1"/>
          <p:nvPr/>
        </p:nvSpPr>
        <p:spPr>
          <a:xfrm>
            <a:off x="6995160" y="1737360"/>
            <a:ext cx="4297680" cy="5029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FastAPI &amp; Python 3</a:t>
            </a:r>
            <a:endParaRPr lang="en-US" sz="1350" dirty="0"/>
          </a:p>
        </p:txBody>
      </p:sp>
      <p:sp>
        <p:nvSpPr>
          <p:cNvPr id="11" name="Text 9"/>
          <p:cNvSpPr txBox="1"/>
          <p:nvPr/>
        </p:nvSpPr>
        <p:spPr>
          <a:xfrm>
            <a:off x="6446520" y="2331720"/>
            <a:ext cx="4846320" cy="868680"/>
          </a:xfrm>
          <a:prstGeom prst="rect">
            <a:avLst/>
          </a:prstGeom>
          <a:noFill/>
          <a:ln/>
        </p:spPr>
        <p:txBody>
          <a:bodyPr wrap="square" lIns="0" tIns="0" rIns="0" bIns="0" rtlCol="0" anchor="ctr"/>
          <a:lstStyle/>
          <a:p>
            <a:pPr indent="0" marL="0">
              <a:lnSpc>
                <a:spcPct val="115000"/>
              </a:lnSpc>
              <a:buNone/>
            </a:pPr>
            <a:r>
              <a:rPr lang="en-US" sz="1080" dirty="0">
                <a:solidFill>
                  <a:srgbClr val="44507A"/>
                </a:solidFill>
                <a:latin typeface="Calibri" pitchFamily="34" charset="0"/>
                <a:ea typeface="Calibri" pitchFamily="34" charset="-122"/>
                <a:cs typeface="Calibri" pitchFamily="34" charset="-120"/>
              </a:rPr>
              <a:t>High-performance async REST endpoints with per-session stateful conversation management.</a:t>
            </a:r>
            <a:endParaRPr lang="en-US" sz="1080" dirty="0"/>
          </a:p>
        </p:txBody>
      </p:sp>
      <p:sp>
        <p:nvSpPr>
          <p:cNvPr id="12" name="Shape 10"/>
          <p:cNvSpPr/>
          <p:nvPr/>
        </p:nvSpPr>
        <p:spPr>
          <a:xfrm>
            <a:off x="548640" y="3520440"/>
            <a:ext cx="5349240" cy="1737360"/>
          </a:xfrm>
          <a:prstGeom prst="roundRect">
            <a:avLst>
              <a:gd name="adj" fmla="val 4211"/>
            </a:avLst>
          </a:prstGeom>
          <a:solidFill>
            <a:srgbClr val="FFFFFF"/>
          </a:solidFill>
          <a:ln/>
          <a:effectLst>
            <a:outerShdw sx="100000" sy="100000" kx="0" ky="0" algn="bl" rotWithShape="0" blurRad="101600" dist="38100" dir="5400000">
              <a:srgbClr val="666666">
                <a:alpha val="15000"/>
              </a:srgbClr>
            </a:outerShdw>
          </a:effectLst>
        </p:spPr>
      </p:sp>
      <p:sp>
        <p:nvSpPr>
          <p:cNvPr id="13" name="Shape 11"/>
          <p:cNvSpPr/>
          <p:nvPr/>
        </p:nvSpPr>
        <p:spPr>
          <a:xfrm>
            <a:off x="777240" y="3749040"/>
            <a:ext cx="411480" cy="411480"/>
          </a:xfrm>
          <a:prstGeom prst="roundRect">
            <a:avLst>
              <a:gd name="adj" fmla="val 48889"/>
            </a:avLst>
          </a:prstGeom>
          <a:solidFill>
            <a:srgbClr val="F2A93B"/>
          </a:solidFill>
          <a:ln/>
        </p:spPr>
      </p:sp>
      <p:sp>
        <p:nvSpPr>
          <p:cNvPr id="14" name="Text 12"/>
          <p:cNvSpPr txBox="1"/>
          <p:nvPr/>
        </p:nvSpPr>
        <p:spPr>
          <a:xfrm>
            <a:off x="1371600" y="3703320"/>
            <a:ext cx="4297680" cy="5029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Multi-Agent Coding Framework</a:t>
            </a:r>
            <a:endParaRPr lang="en-US" sz="1350" dirty="0"/>
          </a:p>
        </p:txBody>
      </p:sp>
      <p:sp>
        <p:nvSpPr>
          <p:cNvPr id="15" name="Text 13"/>
          <p:cNvSpPr txBox="1"/>
          <p:nvPr/>
        </p:nvSpPr>
        <p:spPr>
          <a:xfrm>
            <a:off x="822960" y="4297680"/>
            <a:ext cx="4846320" cy="868680"/>
          </a:xfrm>
          <a:prstGeom prst="rect">
            <a:avLst/>
          </a:prstGeom>
          <a:noFill/>
          <a:ln/>
        </p:spPr>
        <p:txBody>
          <a:bodyPr wrap="square" lIns="0" tIns="0" rIns="0" bIns="0" rtlCol="0" anchor="ctr"/>
          <a:lstStyle/>
          <a:p>
            <a:pPr indent="0" marL="0">
              <a:lnSpc>
                <a:spcPct val="115000"/>
              </a:lnSpc>
              <a:buNone/>
            </a:pPr>
            <a:r>
              <a:rPr lang="en-US" sz="1080" dirty="0">
                <a:solidFill>
                  <a:srgbClr val="44507A"/>
                </a:solidFill>
                <a:latin typeface="Calibri" pitchFamily="34" charset="0"/>
                <a:ea typeface="Calibri" pitchFamily="34" charset="-122"/>
                <a:cs typeface="Calibri" pitchFamily="34" charset="-120"/>
              </a:rPr>
              <a:t>Specialized subagents used during development for glassmorphism UI/CSS styling and automated test-suite generation.</a:t>
            </a:r>
            <a:endParaRPr lang="en-US" sz="1080" dirty="0"/>
          </a:p>
        </p:txBody>
      </p:sp>
      <p:sp>
        <p:nvSpPr>
          <p:cNvPr id="16" name="Shape 14"/>
          <p:cNvSpPr/>
          <p:nvPr/>
        </p:nvSpPr>
        <p:spPr>
          <a:xfrm>
            <a:off x="6172200" y="3520440"/>
            <a:ext cx="5349240" cy="1737360"/>
          </a:xfrm>
          <a:prstGeom prst="roundRect">
            <a:avLst>
              <a:gd name="adj" fmla="val 4211"/>
            </a:avLst>
          </a:prstGeom>
          <a:solidFill>
            <a:srgbClr val="FFFFFF"/>
          </a:solidFill>
          <a:ln/>
          <a:effectLst>
            <a:outerShdw sx="100000" sy="100000" kx="0" ky="0" algn="bl" rotWithShape="0" blurRad="101600" dist="38100" dir="5400000">
              <a:srgbClr val="666666">
                <a:alpha val="15000"/>
              </a:srgbClr>
            </a:outerShdw>
          </a:effectLst>
        </p:spPr>
      </p:sp>
      <p:sp>
        <p:nvSpPr>
          <p:cNvPr id="17" name="Shape 15"/>
          <p:cNvSpPr/>
          <p:nvPr/>
        </p:nvSpPr>
        <p:spPr>
          <a:xfrm>
            <a:off x="6400800" y="3749040"/>
            <a:ext cx="411480" cy="411480"/>
          </a:xfrm>
          <a:prstGeom prst="roundRect">
            <a:avLst>
              <a:gd name="adj" fmla="val 48889"/>
            </a:avLst>
          </a:prstGeom>
          <a:solidFill>
            <a:srgbClr val="2FA97E"/>
          </a:solidFill>
          <a:ln/>
        </p:spPr>
      </p:sp>
      <p:sp>
        <p:nvSpPr>
          <p:cNvPr id="18" name="Text 16"/>
          <p:cNvSpPr txBox="1"/>
          <p:nvPr/>
        </p:nvSpPr>
        <p:spPr>
          <a:xfrm>
            <a:off x="6995160" y="3703320"/>
            <a:ext cx="4297680" cy="5029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Automated Unit Testing</a:t>
            </a:r>
            <a:endParaRPr lang="en-US" sz="1350" dirty="0"/>
          </a:p>
        </p:txBody>
      </p:sp>
      <p:sp>
        <p:nvSpPr>
          <p:cNvPr id="19" name="Text 17"/>
          <p:cNvSpPr txBox="1"/>
          <p:nvPr/>
        </p:nvSpPr>
        <p:spPr>
          <a:xfrm>
            <a:off x="6446520" y="4297680"/>
            <a:ext cx="4846320" cy="868680"/>
          </a:xfrm>
          <a:prstGeom prst="rect">
            <a:avLst/>
          </a:prstGeom>
          <a:noFill/>
          <a:ln/>
        </p:spPr>
        <p:txBody>
          <a:bodyPr wrap="square" lIns="0" tIns="0" rIns="0" bIns="0" rtlCol="0" anchor="ctr"/>
          <a:lstStyle/>
          <a:p>
            <a:pPr indent="0" marL="0">
              <a:lnSpc>
                <a:spcPct val="115000"/>
              </a:lnSpc>
              <a:buNone/>
            </a:pPr>
            <a:r>
              <a:rPr lang="en-US" sz="1080" dirty="0">
                <a:solidFill>
                  <a:srgbClr val="44507A"/>
                </a:solidFill>
                <a:latin typeface="Calibri" pitchFamily="34" charset="0"/>
                <a:ea typeface="Calibri" pitchFamily="34" charset="-122"/>
                <a:cs typeface="Calibri" pitchFamily="34" charset="-120"/>
              </a:rPr>
              <a:t>tests/test_scenarios.py programmatically verifies all 3 data-pack scenarios and every guardrail rule.</a:t>
            </a:r>
            <a:endParaRPr lang="en-US" sz="1080" dirty="0"/>
          </a:p>
        </p:txBody>
      </p:sp>
      <p:sp>
        <p:nvSpPr>
          <p:cNvPr id="20" name="Text 18"/>
          <p:cNvSpPr txBox="1"/>
          <p:nvPr/>
        </p:nvSpPr>
        <p:spPr>
          <a:xfrm>
            <a:off x="548640" y="5532120"/>
            <a:ext cx="11109960" cy="502920"/>
          </a:xfrm>
          <a:prstGeom prst="rect">
            <a:avLst/>
          </a:prstGeom>
          <a:noFill/>
          <a:ln/>
        </p:spPr>
        <p:txBody>
          <a:bodyPr wrap="square" lIns="0" tIns="0" rIns="0" bIns="0" rtlCol="0" anchor="ctr"/>
          <a:lstStyle/>
          <a:p>
            <a:pPr indent="0" marL="0">
              <a:buNone/>
            </a:pPr>
            <a:r>
              <a:rPr lang="en-US" sz="1100" i="1" dirty="0">
                <a:solidFill>
                  <a:srgbClr val="5A6B8C"/>
                </a:solidFill>
                <a:latin typeface="Calibri" pitchFamily="34" charset="0"/>
                <a:ea typeface="Calibri" pitchFamily="34" charset="-122"/>
                <a:cs typeface="Calibri" pitchFamily="34" charset="-120"/>
              </a:rPr>
              <a:t>Why Groq + GPT-OSS 120B?  Ultra-low inference latency critical for live conversations, paired with enterprise-grade reasoning to parse emotional complaints into structured operational actions.</a:t>
            </a:r>
            <a:endParaRPr lang="en-US" sz="1100" dirty="0"/>
          </a:p>
        </p:txBody>
      </p:sp>
      <p:sp>
        <p:nvSpPr>
          <p:cNvPr id="21" name="Text 19"/>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8C97AE"/>
                </a:solidFill>
                <a:latin typeface="Calibri" pitchFamily="34" charset="0"/>
                <a:ea typeface="Calibri" pitchFamily="34" charset="-122"/>
                <a:cs typeface="Calibri" pitchFamily="34" charset="-120"/>
              </a:rPr>
              <a:t>SkyAssist — AIONOS Agentic AI Factory · Assignment 3</a:t>
            </a:r>
            <a:endParaRPr lang="en-US" sz="900" dirty="0"/>
          </a:p>
        </p:txBody>
      </p:sp>
      <p:sp>
        <p:nvSpPr>
          <p:cNvPr id="22" name="Text 20"/>
          <p:cNvSpPr txBox="1"/>
          <p:nvPr/>
        </p:nvSpPr>
        <p:spPr>
          <a:xfrm>
            <a:off x="11365992" y="6473952"/>
            <a:ext cx="457200" cy="274320"/>
          </a:xfrm>
          <a:prstGeom prst="rect">
            <a:avLst/>
          </a:prstGeom>
          <a:noFill/>
          <a:ln/>
        </p:spPr>
        <p:txBody>
          <a:bodyPr wrap="square" lIns="0" tIns="0" rIns="0" bIns="0" rtlCol="0" anchor="ctr"/>
          <a:lstStyle/>
          <a:p>
            <a:pPr algn="r" indent="0" marL="0">
              <a:buNone/>
            </a:pPr>
            <a:r>
              <a:rPr lang="en-US" sz="900" dirty="0">
                <a:solidFill>
                  <a:srgbClr val="8C97AE"/>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828800" y="4114800"/>
            <a:ext cx="5486400" cy="5486400"/>
          </a:xfrm>
          <a:prstGeom prst="ellipse">
            <a:avLst/>
          </a:prstGeom>
          <a:solidFill>
            <a:srgbClr val="26306E"/>
          </a:solidFill>
          <a:ln/>
        </p:spPr>
      </p:sp>
      <p:sp>
        <p:nvSpPr>
          <p:cNvPr id="3" name="Text 1"/>
          <p:cNvSpPr txBox="1"/>
          <p:nvPr/>
        </p:nvSpPr>
        <p:spPr>
          <a:xfrm>
            <a:off x="548640" y="365760"/>
            <a:ext cx="5486400" cy="274320"/>
          </a:xfrm>
          <a:prstGeom prst="rect">
            <a:avLst/>
          </a:prstGeom>
          <a:noFill/>
          <a:ln/>
        </p:spPr>
        <p:txBody>
          <a:bodyPr wrap="square" lIns="0" tIns="0" rIns="0" bIns="0" rtlCol="0" anchor="ctr"/>
          <a:lstStyle/>
          <a:p>
            <a:pPr indent="0" marL="0">
              <a:buNone/>
            </a:pPr>
            <a:r>
              <a:rPr lang="en-US" sz="1200" b="1" spc="200" kern="0" dirty="0">
                <a:solidFill>
                  <a:srgbClr val="F2A93B"/>
                </a:solidFill>
                <a:latin typeface="Calibri" pitchFamily="34" charset="0"/>
                <a:ea typeface="Calibri" pitchFamily="34" charset="-122"/>
                <a:cs typeface="Calibri" pitchFamily="34" charset="-120"/>
              </a:rPr>
              <a:t>BUSINESS IMPACT</a:t>
            </a:r>
            <a:endParaRPr lang="en-US" sz="1200" dirty="0"/>
          </a:p>
        </p:txBody>
      </p:sp>
      <p:sp>
        <p:nvSpPr>
          <p:cNvPr id="4" name="Text 2"/>
          <p:cNvSpPr txBox="1"/>
          <p:nvPr/>
        </p:nvSpPr>
        <p:spPr>
          <a:xfrm>
            <a:off x="548640" y="621792"/>
            <a:ext cx="1115568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Business Impact, Metrics &amp; Future Roadmap</a:t>
            </a:r>
            <a:endParaRPr lang="en-US" sz="3000" dirty="0"/>
          </a:p>
        </p:txBody>
      </p:sp>
      <p:sp>
        <p:nvSpPr>
          <p:cNvPr id="5" name="Shape 3"/>
          <p:cNvSpPr/>
          <p:nvPr/>
        </p:nvSpPr>
        <p:spPr>
          <a:xfrm>
            <a:off x="548640" y="1554480"/>
            <a:ext cx="3566160" cy="1737360"/>
          </a:xfrm>
          <a:prstGeom prst="roundRect">
            <a:avLst>
              <a:gd name="adj" fmla="val 4211"/>
            </a:avLst>
          </a:prstGeom>
          <a:solidFill>
            <a:srgbClr val="232D6B"/>
          </a:solidFill>
          <a:ln/>
        </p:spPr>
      </p:sp>
      <p:sp>
        <p:nvSpPr>
          <p:cNvPr id="6" name="Text 4"/>
          <p:cNvSpPr txBox="1"/>
          <p:nvPr/>
        </p:nvSpPr>
        <p:spPr>
          <a:xfrm>
            <a:off x="548640" y="1664208"/>
            <a:ext cx="3566160" cy="777240"/>
          </a:xfrm>
          <a:prstGeom prst="rect">
            <a:avLst/>
          </a:prstGeom>
          <a:noFill/>
          <a:ln/>
        </p:spPr>
        <p:txBody>
          <a:bodyPr wrap="square" lIns="0" tIns="0" rIns="0" bIns="0" rtlCol="0" anchor="ctr"/>
          <a:lstStyle/>
          <a:p>
            <a:pPr algn="ctr" indent="0" marL="0">
              <a:buNone/>
            </a:pPr>
            <a:r>
              <a:rPr lang="en-US" sz="4000" b="1" dirty="0">
                <a:solidFill>
                  <a:srgbClr val="F2A93B"/>
                </a:solidFill>
                <a:latin typeface="Cambria" pitchFamily="34" charset="0"/>
                <a:ea typeface="Cambria" pitchFamily="34" charset="-122"/>
                <a:cs typeface="Cambria" pitchFamily="34" charset="-120"/>
              </a:rPr>
              <a:t>90%</a:t>
            </a:r>
            <a:endParaRPr lang="en-US" sz="4000" dirty="0"/>
          </a:p>
        </p:txBody>
      </p:sp>
      <p:sp>
        <p:nvSpPr>
          <p:cNvPr id="7" name="Text 5"/>
          <p:cNvSpPr txBox="1"/>
          <p:nvPr/>
        </p:nvSpPr>
        <p:spPr>
          <a:xfrm>
            <a:off x="731520" y="2395728"/>
            <a:ext cx="320040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Faster Resolution</a:t>
            </a:r>
            <a:endParaRPr lang="en-US" sz="1300" dirty="0"/>
          </a:p>
        </p:txBody>
      </p:sp>
      <p:sp>
        <p:nvSpPr>
          <p:cNvPr id="8" name="Text 6"/>
          <p:cNvSpPr txBox="1"/>
          <p:nvPr/>
        </p:nvSpPr>
        <p:spPr>
          <a:xfrm>
            <a:off x="731520" y="2724912"/>
            <a:ext cx="3200400" cy="457200"/>
          </a:xfrm>
          <a:prstGeom prst="rect">
            <a:avLst/>
          </a:prstGeom>
          <a:noFill/>
          <a:ln/>
        </p:spPr>
        <p:txBody>
          <a:bodyPr wrap="square" lIns="0" tIns="0" rIns="0" bIns="0" rtlCol="0" anchor="ctr"/>
          <a:lstStyle/>
          <a:p>
            <a:pPr algn="ctr" indent="0" marL="0">
              <a:buNone/>
            </a:pPr>
            <a:r>
              <a:rPr lang="en-US" sz="950" dirty="0">
                <a:solidFill>
                  <a:srgbClr val="CADCFC"/>
                </a:solidFill>
                <a:latin typeface="Calibri" pitchFamily="34" charset="0"/>
                <a:ea typeface="Calibri" pitchFamily="34" charset="-122"/>
                <a:cs typeface="Calibri" pitchFamily="34" charset="-120"/>
              </a:rPr>
              <a:t>18 min phone call → under 60 seconds</a:t>
            </a:r>
            <a:endParaRPr lang="en-US" sz="950" dirty="0"/>
          </a:p>
        </p:txBody>
      </p:sp>
      <p:sp>
        <p:nvSpPr>
          <p:cNvPr id="9" name="Shape 7"/>
          <p:cNvSpPr/>
          <p:nvPr/>
        </p:nvSpPr>
        <p:spPr>
          <a:xfrm>
            <a:off x="4343400" y="1554480"/>
            <a:ext cx="3566160" cy="1737360"/>
          </a:xfrm>
          <a:prstGeom prst="roundRect">
            <a:avLst>
              <a:gd name="adj" fmla="val 4211"/>
            </a:avLst>
          </a:prstGeom>
          <a:solidFill>
            <a:srgbClr val="232D6B"/>
          </a:solidFill>
          <a:ln/>
        </p:spPr>
      </p:sp>
      <p:sp>
        <p:nvSpPr>
          <p:cNvPr id="10" name="Text 8"/>
          <p:cNvSpPr txBox="1"/>
          <p:nvPr/>
        </p:nvSpPr>
        <p:spPr>
          <a:xfrm>
            <a:off x="4343400" y="1664208"/>
            <a:ext cx="3566160" cy="777240"/>
          </a:xfrm>
          <a:prstGeom prst="rect">
            <a:avLst/>
          </a:prstGeom>
          <a:noFill/>
          <a:ln/>
        </p:spPr>
        <p:txBody>
          <a:bodyPr wrap="square" lIns="0" tIns="0" rIns="0" bIns="0" rtlCol="0" anchor="ctr"/>
          <a:lstStyle/>
          <a:p>
            <a:pPr algn="ctr" indent="0" marL="0">
              <a:buNone/>
            </a:pPr>
            <a:r>
              <a:rPr lang="en-US" sz="4000" b="1" dirty="0">
                <a:solidFill>
                  <a:srgbClr val="F2A93B"/>
                </a:solidFill>
                <a:latin typeface="Cambria" pitchFamily="34" charset="0"/>
                <a:ea typeface="Cambria" pitchFamily="34" charset="-122"/>
                <a:cs typeface="Cambria" pitchFamily="34" charset="-120"/>
              </a:rPr>
              <a:t>0</a:t>
            </a:r>
            <a:endParaRPr lang="en-US" sz="4000" dirty="0"/>
          </a:p>
        </p:txBody>
      </p:sp>
      <p:sp>
        <p:nvSpPr>
          <p:cNvPr id="11" name="Text 9"/>
          <p:cNvSpPr txBox="1"/>
          <p:nvPr/>
        </p:nvSpPr>
        <p:spPr>
          <a:xfrm>
            <a:off x="4526280" y="2395728"/>
            <a:ext cx="320040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Policy Leakage</a:t>
            </a:r>
            <a:endParaRPr lang="en-US" sz="1300" dirty="0"/>
          </a:p>
        </p:txBody>
      </p:sp>
      <p:sp>
        <p:nvSpPr>
          <p:cNvPr id="12" name="Text 10"/>
          <p:cNvSpPr txBox="1"/>
          <p:nvPr/>
        </p:nvSpPr>
        <p:spPr>
          <a:xfrm>
            <a:off x="4526280" y="2724912"/>
            <a:ext cx="3200400" cy="457200"/>
          </a:xfrm>
          <a:prstGeom prst="rect">
            <a:avLst/>
          </a:prstGeom>
          <a:noFill/>
          <a:ln/>
        </p:spPr>
        <p:txBody>
          <a:bodyPr wrap="square" lIns="0" tIns="0" rIns="0" bIns="0" rtlCol="0" anchor="ctr"/>
          <a:lstStyle/>
          <a:p>
            <a:pPr algn="ctr" indent="0" marL="0">
              <a:buNone/>
            </a:pPr>
            <a:r>
              <a:rPr lang="en-US" sz="950" dirty="0">
                <a:solidFill>
                  <a:srgbClr val="CADCFC"/>
                </a:solidFill>
                <a:latin typeface="Calibri" pitchFamily="34" charset="0"/>
                <a:ea typeface="Calibri" pitchFamily="34" charset="-122"/>
                <a:cs typeface="Calibri" pitchFamily="34" charset="-120"/>
              </a:rPr>
              <a:t>Hard guardrails block every unapproved refund/waiver</a:t>
            </a:r>
            <a:endParaRPr lang="en-US" sz="950" dirty="0"/>
          </a:p>
        </p:txBody>
      </p:sp>
      <p:sp>
        <p:nvSpPr>
          <p:cNvPr id="13" name="Shape 11"/>
          <p:cNvSpPr/>
          <p:nvPr/>
        </p:nvSpPr>
        <p:spPr>
          <a:xfrm>
            <a:off x="8138160" y="1554480"/>
            <a:ext cx="3566160" cy="1737360"/>
          </a:xfrm>
          <a:prstGeom prst="roundRect">
            <a:avLst>
              <a:gd name="adj" fmla="val 4211"/>
            </a:avLst>
          </a:prstGeom>
          <a:solidFill>
            <a:srgbClr val="232D6B"/>
          </a:solidFill>
          <a:ln/>
        </p:spPr>
      </p:sp>
      <p:sp>
        <p:nvSpPr>
          <p:cNvPr id="14" name="Text 12"/>
          <p:cNvSpPr txBox="1"/>
          <p:nvPr/>
        </p:nvSpPr>
        <p:spPr>
          <a:xfrm>
            <a:off x="8138160" y="1664208"/>
            <a:ext cx="3566160" cy="777240"/>
          </a:xfrm>
          <a:prstGeom prst="rect">
            <a:avLst/>
          </a:prstGeom>
          <a:noFill/>
          <a:ln/>
        </p:spPr>
        <p:txBody>
          <a:bodyPr wrap="square" lIns="0" tIns="0" rIns="0" bIns="0" rtlCol="0" anchor="ctr"/>
          <a:lstStyle/>
          <a:p>
            <a:pPr algn="ctr" indent="0" marL="0">
              <a:buNone/>
            </a:pPr>
            <a:r>
              <a:rPr lang="en-US" sz="4000" b="1" dirty="0">
                <a:solidFill>
                  <a:srgbClr val="F2A93B"/>
                </a:solidFill>
                <a:latin typeface="Cambria" pitchFamily="34" charset="0"/>
                <a:ea typeface="Cambria" pitchFamily="34" charset="-122"/>
                <a:cs typeface="Cambria" pitchFamily="34" charset="-120"/>
              </a:rPr>
              <a:t>3/3</a:t>
            </a:r>
            <a:endParaRPr lang="en-US" sz="4000" dirty="0"/>
          </a:p>
        </p:txBody>
      </p:sp>
      <p:sp>
        <p:nvSpPr>
          <p:cNvPr id="15" name="Text 13"/>
          <p:cNvSpPr txBox="1"/>
          <p:nvPr/>
        </p:nvSpPr>
        <p:spPr>
          <a:xfrm>
            <a:off x="8321040" y="2395728"/>
            <a:ext cx="320040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Scenarios Passed</a:t>
            </a:r>
            <a:endParaRPr lang="en-US" sz="1300" dirty="0"/>
          </a:p>
        </p:txBody>
      </p:sp>
      <p:sp>
        <p:nvSpPr>
          <p:cNvPr id="16" name="Text 14"/>
          <p:cNvSpPr txBox="1"/>
          <p:nvPr/>
        </p:nvSpPr>
        <p:spPr>
          <a:xfrm>
            <a:off x="8321040" y="2724912"/>
            <a:ext cx="3200400" cy="457200"/>
          </a:xfrm>
          <a:prstGeom prst="rect">
            <a:avLst/>
          </a:prstGeom>
          <a:noFill/>
          <a:ln/>
        </p:spPr>
        <p:txBody>
          <a:bodyPr wrap="square" lIns="0" tIns="0" rIns="0" bIns="0" rtlCol="0" anchor="ctr"/>
          <a:lstStyle/>
          <a:p>
            <a:pPr algn="ctr" indent="0" marL="0">
              <a:buNone/>
            </a:pPr>
            <a:r>
              <a:rPr lang="en-US" sz="950" dirty="0">
                <a:solidFill>
                  <a:srgbClr val="CADCFC"/>
                </a:solidFill>
                <a:latin typeface="Calibri" pitchFamily="34" charset="0"/>
                <a:ea typeface="Calibri" pitchFamily="34" charset="-122"/>
                <a:cs typeface="Calibri" pitchFamily="34" charset="-120"/>
              </a:rPr>
              <a:t>All data-pack journeys resolved &amp; test-verified</a:t>
            </a:r>
            <a:endParaRPr lang="en-US" sz="950" dirty="0"/>
          </a:p>
        </p:txBody>
      </p:sp>
      <p:sp>
        <p:nvSpPr>
          <p:cNvPr id="17" name="Text 15"/>
          <p:cNvSpPr txBox="1"/>
          <p:nvPr/>
        </p:nvSpPr>
        <p:spPr>
          <a:xfrm>
            <a:off x="548640" y="3703320"/>
            <a:ext cx="5486400" cy="274320"/>
          </a:xfrm>
          <a:prstGeom prst="rect">
            <a:avLst/>
          </a:prstGeom>
          <a:noFill/>
          <a:ln/>
        </p:spPr>
        <p:txBody>
          <a:bodyPr wrap="square" lIns="0" tIns="0" rIns="0" bIns="0" rtlCol="0" anchor="ctr"/>
          <a:lstStyle/>
          <a:p>
            <a:pPr indent="0" marL="0">
              <a:buNone/>
            </a:pPr>
            <a:r>
              <a:rPr lang="en-US" sz="1200" b="1" spc="200" kern="0" dirty="0">
                <a:solidFill>
                  <a:srgbClr val="F2A93B"/>
                </a:solidFill>
                <a:latin typeface="Calibri" pitchFamily="34" charset="0"/>
                <a:ea typeface="Calibri" pitchFamily="34" charset="-122"/>
                <a:cs typeface="Calibri" pitchFamily="34" charset="-120"/>
              </a:rPr>
              <a:t>FUTURE ROADMAP</a:t>
            </a:r>
            <a:endParaRPr lang="en-US" sz="1200" dirty="0"/>
          </a:p>
        </p:txBody>
      </p:sp>
      <p:sp>
        <p:nvSpPr>
          <p:cNvPr id="18" name="Shape 16"/>
          <p:cNvSpPr/>
          <p:nvPr/>
        </p:nvSpPr>
        <p:spPr>
          <a:xfrm>
            <a:off x="548640" y="4069080"/>
            <a:ext cx="320040" cy="320040"/>
          </a:xfrm>
          <a:prstGeom prst="roundRect">
            <a:avLst>
              <a:gd name="adj" fmla="val 48571"/>
            </a:avLst>
          </a:prstGeom>
          <a:solidFill>
            <a:srgbClr val="3B4682"/>
          </a:solidFill>
          <a:ln/>
        </p:spPr>
      </p:sp>
      <p:sp>
        <p:nvSpPr>
          <p:cNvPr id="19" name="Text 17"/>
          <p:cNvSpPr txBox="1"/>
          <p:nvPr/>
        </p:nvSpPr>
        <p:spPr>
          <a:xfrm>
            <a:off x="548640" y="4069080"/>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0" name="Text 18"/>
          <p:cNvSpPr txBox="1"/>
          <p:nvPr/>
        </p:nvSpPr>
        <p:spPr>
          <a:xfrm>
            <a:off x="1005840" y="4050792"/>
            <a:ext cx="1060704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Integration with Sabre/Amadeus GDS APIs for automated PNR re-ticketing</a:t>
            </a:r>
            <a:endParaRPr lang="en-US" sz="1300" dirty="0"/>
          </a:p>
        </p:txBody>
      </p:sp>
      <p:sp>
        <p:nvSpPr>
          <p:cNvPr id="21" name="Shape 19"/>
          <p:cNvSpPr/>
          <p:nvPr/>
        </p:nvSpPr>
        <p:spPr>
          <a:xfrm>
            <a:off x="548640" y="4636008"/>
            <a:ext cx="320040" cy="320040"/>
          </a:xfrm>
          <a:prstGeom prst="roundRect">
            <a:avLst>
              <a:gd name="adj" fmla="val 48571"/>
            </a:avLst>
          </a:prstGeom>
          <a:solidFill>
            <a:srgbClr val="3B4682"/>
          </a:solidFill>
          <a:ln/>
        </p:spPr>
      </p:sp>
      <p:sp>
        <p:nvSpPr>
          <p:cNvPr id="22" name="Text 20"/>
          <p:cNvSpPr txBox="1"/>
          <p:nvPr/>
        </p:nvSpPr>
        <p:spPr>
          <a:xfrm>
            <a:off x="548640" y="4636008"/>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3" name="Text 21"/>
          <p:cNvSpPr txBox="1"/>
          <p:nvPr/>
        </p:nvSpPr>
        <p:spPr>
          <a:xfrm>
            <a:off x="1005840" y="4617720"/>
            <a:ext cx="1060704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Multi-channel deployment — WhatsApp Business API &amp; Apple Messages for Business</a:t>
            </a:r>
            <a:endParaRPr lang="en-US" sz="1300" dirty="0"/>
          </a:p>
        </p:txBody>
      </p:sp>
      <p:sp>
        <p:nvSpPr>
          <p:cNvPr id="24" name="Shape 22"/>
          <p:cNvSpPr/>
          <p:nvPr/>
        </p:nvSpPr>
        <p:spPr>
          <a:xfrm>
            <a:off x="548640" y="5202936"/>
            <a:ext cx="320040" cy="320040"/>
          </a:xfrm>
          <a:prstGeom prst="roundRect">
            <a:avLst>
              <a:gd name="adj" fmla="val 48571"/>
            </a:avLst>
          </a:prstGeom>
          <a:solidFill>
            <a:srgbClr val="3B4682"/>
          </a:solidFill>
          <a:ln/>
        </p:spPr>
      </p:sp>
      <p:sp>
        <p:nvSpPr>
          <p:cNvPr id="25" name="Text 23"/>
          <p:cNvSpPr txBox="1"/>
          <p:nvPr/>
        </p:nvSpPr>
        <p:spPr>
          <a:xfrm>
            <a:off x="548640" y="5202936"/>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6" name="Text 24"/>
          <p:cNvSpPr txBox="1"/>
          <p:nvPr/>
        </p:nvSpPr>
        <p:spPr>
          <a:xfrm>
            <a:off x="1005840" y="5184648"/>
            <a:ext cx="1060704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Speech-to-speech voice agent capability using Groq Whisper</a:t>
            </a:r>
            <a:endParaRPr lang="en-US" sz="1300" dirty="0"/>
          </a:p>
        </p:txBody>
      </p:sp>
      <p:sp>
        <p:nvSpPr>
          <p:cNvPr id="27" name="Shape 25"/>
          <p:cNvSpPr/>
          <p:nvPr/>
        </p:nvSpPr>
        <p:spPr>
          <a:xfrm>
            <a:off x="548640" y="5989320"/>
            <a:ext cx="11064240" cy="0"/>
          </a:xfrm>
          <a:prstGeom prst="line">
            <a:avLst/>
          </a:prstGeom>
          <a:noFill/>
          <a:ln w="12700">
            <a:solidFill>
              <a:srgbClr val="3B4682"/>
            </a:solidFill>
            <a:prstDash val="solid"/>
          </a:ln>
        </p:spPr>
      </p:sp>
      <p:sp>
        <p:nvSpPr>
          <p:cNvPr id="28" name="Text 26"/>
          <p:cNvSpPr txBox="1"/>
          <p:nvPr/>
        </p:nvSpPr>
        <p:spPr>
          <a:xfrm>
            <a:off x="548640" y="6126480"/>
            <a:ext cx="11109960" cy="457200"/>
          </a:xfrm>
          <a:prstGeom prst="rect">
            <a:avLst/>
          </a:prstGeom>
          <a:noFill/>
          <a:ln/>
        </p:spPr>
        <p:txBody>
          <a:bodyPr wrap="square" lIns="0" tIns="0" rIns="0" bIns="0" rtlCol="0" anchor="ctr"/>
          <a:lstStyle/>
          <a:p>
            <a:pPr algn="ctr" indent="0" marL="0">
              <a:buNone/>
            </a:pPr>
            <a:r>
              <a:rPr lang="en-US" sz="1200" i="1" dirty="0">
                <a:solidFill>
                  <a:srgbClr val="8894B5"/>
                </a:solidFill>
                <a:latin typeface="Calibri" pitchFamily="34" charset="0"/>
                <a:ea typeface="Calibri" pitchFamily="34" charset="-122"/>
                <a:cs typeface="Calibri" pitchFamily="34" charset="-120"/>
              </a:rPr>
              <a:t>Thank you — combining LLM empathy with deterministic policy guardrails to protect margins while delivering instant, transparent resolution.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2026-09-17T13:04:05Z</dcterms:created>
  <dcterms:modified xsi:type="dcterms:W3CDTF">2026-09-17T13:04:05Z</dcterms:modified>
</cp:coreProperties>
</file>